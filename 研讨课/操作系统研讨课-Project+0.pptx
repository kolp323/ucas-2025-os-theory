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90" r:id="rId2"/>
    <p:sldId id="455" r:id="rId3"/>
    <p:sldId id="462" r:id="rId4"/>
    <p:sldId id="419" r:id="rId5"/>
    <p:sldId id="421" r:id="rId6"/>
    <p:sldId id="422" r:id="rId7"/>
    <p:sldId id="423" r:id="rId8"/>
    <p:sldId id="452" r:id="rId9"/>
    <p:sldId id="466" r:id="rId10"/>
    <p:sldId id="454" r:id="rId11"/>
    <p:sldId id="467" r:id="rId12"/>
    <p:sldId id="463" r:id="rId13"/>
    <p:sldId id="430" r:id="rId14"/>
    <p:sldId id="431" r:id="rId15"/>
    <p:sldId id="432" r:id="rId16"/>
    <p:sldId id="433" r:id="rId17"/>
    <p:sldId id="434" r:id="rId18"/>
    <p:sldId id="435" r:id="rId19"/>
    <p:sldId id="436" r:id="rId20"/>
    <p:sldId id="437" r:id="rId21"/>
    <p:sldId id="438" r:id="rId22"/>
    <p:sldId id="464" r:id="rId23"/>
    <p:sldId id="439" r:id="rId24"/>
    <p:sldId id="440" r:id="rId25"/>
    <p:sldId id="441" r:id="rId26"/>
    <p:sldId id="442" r:id="rId27"/>
    <p:sldId id="443" r:id="rId28"/>
    <p:sldId id="445" r:id="rId29"/>
    <p:sldId id="446" r:id="rId30"/>
    <p:sldId id="465" r:id="rId31"/>
    <p:sldId id="447" r:id="rId32"/>
    <p:sldId id="448" r:id="rId33"/>
    <p:sldId id="420" r:id="rId3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98"/>
    <p:restoredTop sz="95707" autoAdjust="0"/>
  </p:normalViewPr>
  <p:slideViewPr>
    <p:cSldViewPr>
      <p:cViewPr varScale="1">
        <p:scale>
          <a:sx n="86" d="100"/>
          <a:sy n="86" d="100"/>
        </p:scale>
        <p:origin x="133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9CBEB-4655-41E8-BB67-FA1C4C7D8BFB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93ABC-3651-416D-9B47-5A87B59AE97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28072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566AA-E54F-4841-8F33-237A7BEEB3B0}" type="datetimeFigureOut">
              <a:rPr lang="zh-CN" altLang="en-US" smtClean="0"/>
              <a:t>2025/9/24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41C4AF-60C1-4EDF-ADB5-42D91DD3B0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9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32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6AEA-41C8-7964-2623-60405EF3A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D59631-3366-086B-60CA-519A3331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6885B4-DB17-4ECD-E9A1-D5EE007AE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7E5E3E-1981-65F8-AA01-EF1FC48621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9527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688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11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9082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6978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8463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2F2678-C8C4-26C4-DA0B-0073773A9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34B254-12DB-733C-33F5-384C165C79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7F782F0-4991-B274-FEF5-0EB60B2427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2D8C721-9CF3-C1B7-2771-A0BCACE929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661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805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7F65F-3688-918B-5BBB-09A9AB253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93842AC-7867-EE50-4C97-E69629D52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CFBCB09-5D2B-E1B7-4480-BA806023E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2A954E-0080-86A4-5100-A0AA15326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361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A7113-9BA6-4463-17EE-47C77EB32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BCE183A-E8E9-9908-8D6E-0B263E8CD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E48CA-E20F-1EB2-F10F-9CE8F0020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E5DA1C-C996-EF0E-EAC5-EC10A52C7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233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0273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00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5657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781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9944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4541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9061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4161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9127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6264A-1C13-6531-B9CB-FA991A72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CD88F3-EAE5-7B7D-1273-02F07FACC8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941BB9A-C452-2065-EDA0-7055B3035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E9CA75-44C6-7D09-2DE2-8474644946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288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727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827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46347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68568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9627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2245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5909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8422F-0E89-61E2-6DF4-091284E7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08F487-CA19-FA26-7DB7-F96D5D2B3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1AA5783-A998-0D60-BFD1-8DA58F8F7F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F164D8-B41B-158A-8E47-CD0C87FB94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9007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0683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99036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41C4AF-60C1-4EDF-ADB5-42D91DD3B03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249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微软雅黑" pitchFamily="34" charset="-122"/>
                <a:ea typeface="微软雅黑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92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r>
              <a:rPr lang="en-US" altLang="zh-CN"/>
              <a:t>dd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微软雅黑" pitchFamily="34" charset="-122"/>
                <a:ea typeface="微软雅黑" pitchFamily="34" charset="-122"/>
              </a:defRPr>
            </a:lvl1pPr>
            <a:lvl2pPr>
              <a:defRPr>
                <a:latin typeface="微软雅黑" pitchFamily="34" charset="-122"/>
                <a:ea typeface="微软雅黑" pitchFamily="34" charset="-122"/>
              </a:defRPr>
            </a:lvl2pPr>
            <a:lvl3pPr>
              <a:defRPr>
                <a:latin typeface="微软雅黑" pitchFamily="34" charset="-122"/>
                <a:ea typeface="微软雅黑" pitchFamily="34" charset="-122"/>
              </a:defRPr>
            </a:lvl3pPr>
            <a:lvl4pPr>
              <a:defRPr>
                <a:latin typeface="微软雅黑" pitchFamily="34" charset="-122"/>
                <a:ea typeface="微软雅黑" pitchFamily="34" charset="-122"/>
              </a:defRPr>
            </a:lvl4pPr>
            <a:lvl5pPr>
              <a:defRPr>
                <a:latin typeface="微软雅黑" pitchFamily="34" charset="-122"/>
                <a:ea typeface="微软雅黑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Operating Systems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08064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www.ucas.edu.cn/newStyle/images/lougou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37312"/>
            <a:ext cx="2843808" cy="620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C360F4-2AF7-43A3-9D39-C6E348BA32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8816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8.152.206.202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8.152.206.202/ucas-os/os-2025-code.gi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+mj-ea"/>
              </a:rPr>
              <a:t>Project 0 </a:t>
            </a:r>
            <a:r>
              <a:rPr lang="zh-CN" altLang="en-US" dirty="0">
                <a:latin typeface="+mj-ea"/>
              </a:rPr>
              <a:t>课程环境和预备知识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2025.9.17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卢天越</a:t>
            </a:r>
          </a:p>
        </p:txBody>
      </p:sp>
    </p:spTree>
    <p:extLst>
      <p:ext uri="{BB962C8B-B14F-4D97-AF65-F5344CB8AC3E}">
        <p14:creationId xmlns:p14="http://schemas.microsoft.com/office/powerpoint/2010/main" val="61077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今日课程内容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预备知识 </a:t>
            </a:r>
            <a:r>
              <a:rPr lang="en-US" altLang="zh-CN" dirty="0"/>
              <a:t>&amp; </a:t>
            </a:r>
            <a:r>
              <a:rPr lang="zh-CN" altLang="en-US" dirty="0"/>
              <a:t>课程环境搭建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、虚拟机 </a:t>
            </a:r>
            <a:r>
              <a:rPr lang="en-US" altLang="zh-CN" dirty="0"/>
              <a:t>&amp; git</a:t>
            </a:r>
            <a:r>
              <a:rPr lang="zh-CN" altLang="en-US" dirty="0"/>
              <a:t>环境搭建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汇编介绍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QEMU</a:t>
            </a:r>
            <a:r>
              <a:rPr lang="zh-CN" altLang="en-US" dirty="0"/>
              <a:t>模拟器和</a:t>
            </a:r>
            <a:r>
              <a:rPr lang="en-US" altLang="zh-CN" dirty="0" err="1"/>
              <a:t>gdb</a:t>
            </a:r>
            <a:r>
              <a:rPr lang="zh-CN" altLang="en-US" dirty="0"/>
              <a:t>介绍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、预备课作业：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号课上检查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6484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BBC12-7770-9C9C-EA35-896E8BBF0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0EF1E-5538-123F-C89E-7E9B6BFB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今日课程内容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02C73A-F1BF-2880-375D-7EE14CFFC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预备知识 </a:t>
            </a:r>
            <a:r>
              <a:rPr lang="en-US" altLang="zh-CN" dirty="0"/>
              <a:t>&amp; </a:t>
            </a:r>
            <a:r>
              <a:rPr lang="zh-CN" altLang="en-US" dirty="0"/>
              <a:t>课程环境搭建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、虚拟机 </a:t>
            </a:r>
            <a:r>
              <a:rPr lang="en-US" altLang="zh-CN" dirty="0">
                <a:solidFill>
                  <a:srgbClr val="C00000"/>
                </a:solidFill>
              </a:rPr>
              <a:t>&amp; git</a:t>
            </a:r>
            <a:r>
              <a:rPr lang="zh-CN" altLang="en-US" dirty="0">
                <a:solidFill>
                  <a:srgbClr val="C00000"/>
                </a:solidFill>
              </a:rPr>
              <a:t>环境搭建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汇编介绍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QEMU</a:t>
            </a:r>
            <a:r>
              <a:rPr lang="zh-CN" altLang="en-US" dirty="0"/>
              <a:t>模拟器和</a:t>
            </a:r>
            <a:r>
              <a:rPr lang="en-US" altLang="zh-CN" dirty="0" err="1"/>
              <a:t>gdb</a:t>
            </a:r>
            <a:r>
              <a:rPr lang="zh-CN" altLang="en-US" dirty="0"/>
              <a:t>介绍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、预备课作业：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号课上检查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6C8BFAE-819E-C283-EDBE-5DEC95A73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059454-5410-2DC7-F2A9-0357C5E3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5774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课程环境搭建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请来领</a:t>
            </a:r>
            <a:r>
              <a:rPr lang="en-US" altLang="zh-CN" dirty="0" err="1"/>
              <a:t>sd</a:t>
            </a:r>
            <a:r>
              <a:rPr lang="zh-CN" altLang="en-US" dirty="0"/>
              <a:t>卡和读卡器</a:t>
            </a:r>
          </a:p>
          <a:p>
            <a:r>
              <a:rPr lang="en-US" altLang="zh-CN" dirty="0" err="1"/>
              <a:t>sd</a:t>
            </a:r>
            <a:r>
              <a:rPr lang="zh-CN" altLang="en-US" dirty="0"/>
              <a:t>卡和读卡器插在电脑上应能看到以下内容</a:t>
            </a:r>
          </a:p>
          <a:p>
            <a:pPr lvl="1"/>
            <a:r>
              <a:rPr lang="zh-CN" altLang="en-US" dirty="0"/>
              <a:t>四个分区，一个分区包含一个</a:t>
            </a:r>
            <a:r>
              <a:rPr lang="en-US" altLang="zh-CN" dirty="0" err="1"/>
              <a:t>BOOT.bin</a:t>
            </a:r>
            <a:r>
              <a:rPr lang="zh-CN" altLang="en-US" dirty="0"/>
              <a:t>文件，一个分区在</a:t>
            </a:r>
            <a:r>
              <a:rPr lang="en-US" altLang="zh-CN" dirty="0"/>
              <a:t>windows</a:t>
            </a:r>
            <a:r>
              <a:rPr lang="zh-CN" altLang="en-US" dirty="0"/>
              <a:t>系统上读不出来，一个分区是给实验中烧录镜像文件用的，一个分区里面是一些压缩包和安装文件</a:t>
            </a:r>
          </a:p>
          <a:p>
            <a:pPr lvl="1"/>
            <a:r>
              <a:rPr lang="zh-CN" altLang="en-US" dirty="0"/>
              <a:t>注意</a:t>
            </a:r>
            <a:r>
              <a:rPr lang="en-US" altLang="zh-CN" dirty="0" err="1"/>
              <a:t>sd</a:t>
            </a:r>
            <a:r>
              <a:rPr lang="zh-CN" altLang="en-US" dirty="0"/>
              <a:t>卡插入读卡器时的正反</a:t>
            </a:r>
          </a:p>
          <a:p>
            <a:r>
              <a:rPr lang="zh-CN" altLang="en-US" dirty="0"/>
              <a:t>后续实验中也会用到</a:t>
            </a:r>
            <a:r>
              <a:rPr lang="en-US" altLang="zh-CN" dirty="0" err="1"/>
              <a:t>sd</a:t>
            </a:r>
            <a:r>
              <a:rPr lang="zh-CN" altLang="en-US" dirty="0"/>
              <a:t>卡和读卡器，各分区内容不要动</a:t>
            </a:r>
            <a:endParaRPr lang="en-US" altLang="zh-CN" dirty="0"/>
          </a:p>
          <a:p>
            <a:r>
              <a:rPr lang="zh-CN" altLang="en-US" dirty="0"/>
              <a:t>本</a:t>
            </a:r>
            <a:r>
              <a:rPr lang="en-US" altLang="zh-CN" dirty="0"/>
              <a:t>ppt</a:t>
            </a:r>
            <a:r>
              <a:rPr lang="zh-CN" altLang="en-US" dirty="0"/>
              <a:t>课后会上传至国科大在线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149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虚拟机环境安装和使用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77500" lnSpcReduction="20000"/>
          </a:bodyPr>
          <a:lstStyle/>
          <a:p>
            <a:r>
              <a:rPr lang="en-US" altLang="zh-CN" dirty="0"/>
              <a:t>VirtualBox</a:t>
            </a:r>
          </a:p>
          <a:p>
            <a:pPr lvl="1"/>
            <a:r>
              <a:rPr lang="zh-CN" altLang="en-US" dirty="0"/>
              <a:t>拷贝</a:t>
            </a:r>
            <a:r>
              <a:rPr lang="en-US" altLang="zh-CN" dirty="0" err="1"/>
              <a:t>sd</a:t>
            </a:r>
            <a:r>
              <a:rPr lang="zh-CN" altLang="en-US" dirty="0"/>
              <a:t>卡中的安装程序并安装</a:t>
            </a:r>
          </a:p>
          <a:p>
            <a:pPr lvl="1"/>
            <a:r>
              <a:rPr lang="zh-CN" altLang="en-US" dirty="0"/>
              <a:t>已安装的同学不必重复安装</a:t>
            </a:r>
          </a:p>
          <a:p>
            <a:r>
              <a:rPr lang="zh-CN" altLang="en-US" dirty="0"/>
              <a:t>安装</a:t>
            </a:r>
            <a:r>
              <a:rPr lang="en-US" altLang="zh-CN" dirty="0" err="1"/>
              <a:t>VirtualBox_extension</a:t>
            </a:r>
            <a:endParaRPr lang="en-US" altLang="zh-CN" dirty="0"/>
          </a:p>
          <a:p>
            <a:pPr lvl="1"/>
            <a:r>
              <a:rPr lang="zh-CN" altLang="en-US" dirty="0"/>
              <a:t>之前安装过</a:t>
            </a:r>
            <a:r>
              <a:rPr lang="en-US" altLang="zh-CN" dirty="0"/>
              <a:t>VirtualBox</a:t>
            </a:r>
            <a:r>
              <a:rPr lang="zh-CN" altLang="en-US" dirty="0"/>
              <a:t>的同学需要自己去官网找一下对应版本的</a:t>
            </a:r>
            <a:r>
              <a:rPr lang="en-US" altLang="zh-CN" dirty="0"/>
              <a:t>extension</a:t>
            </a:r>
          </a:p>
          <a:p>
            <a:r>
              <a:rPr lang="zh-CN" altLang="en-US" dirty="0"/>
              <a:t>载入虚拟机镜像</a:t>
            </a:r>
          </a:p>
          <a:p>
            <a:pPr lvl="1"/>
            <a:r>
              <a:rPr lang="zh-CN" altLang="en-US" dirty="0"/>
              <a:t>选择</a:t>
            </a:r>
            <a:r>
              <a:rPr lang="en-US" altLang="zh-CN" dirty="0"/>
              <a:t>UCAS_OS_2025.ova</a:t>
            </a:r>
            <a:r>
              <a:rPr lang="zh-CN" altLang="en-US" dirty="0"/>
              <a:t>文件，导入虚拟电脑，导入文件</a:t>
            </a:r>
          </a:p>
          <a:p>
            <a:r>
              <a:rPr lang="zh-CN" altLang="en-US" dirty="0"/>
              <a:t>启动虚拟机</a:t>
            </a:r>
          </a:p>
          <a:p>
            <a:pPr lvl="1"/>
            <a:r>
              <a:rPr lang="zh-CN" altLang="en-US" b="1" dirty="0"/>
              <a:t>登录用户</a:t>
            </a:r>
            <a:r>
              <a:rPr lang="en-US" altLang="zh-CN" b="1" dirty="0" err="1"/>
              <a:t>stu</a:t>
            </a:r>
            <a:r>
              <a:rPr lang="en-US" altLang="zh-CN" b="1" dirty="0"/>
              <a:t>, </a:t>
            </a:r>
            <a:r>
              <a:rPr lang="zh-CN" altLang="en-US" b="1" dirty="0"/>
              <a:t>密码</a:t>
            </a:r>
            <a:r>
              <a:rPr lang="en-US" altLang="zh-CN" b="1" dirty="0"/>
              <a:t>123456</a:t>
            </a:r>
          </a:p>
          <a:p>
            <a:pPr lvl="1"/>
            <a:r>
              <a:rPr lang="en-US" altLang="zh-CN" dirty="0"/>
              <a:t>Linux</a:t>
            </a:r>
            <a:r>
              <a:rPr lang="zh-CN" altLang="en-US" dirty="0"/>
              <a:t>系统输入密码是不会显示的</a:t>
            </a:r>
          </a:p>
          <a:p>
            <a:r>
              <a:rPr lang="zh-CN" altLang="en-US" dirty="0"/>
              <a:t>看到命令提示符，可以输入，则成功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368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虚拟机环境相关介绍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56150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系统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请大家自己熟悉一下常用的</a:t>
            </a:r>
            <a:r>
              <a:rPr lang="en-US" altLang="zh-CN" dirty="0">
                <a:solidFill>
                  <a:srgbClr val="C00000"/>
                </a:solidFill>
              </a:rPr>
              <a:t>Linux</a:t>
            </a:r>
            <a:r>
              <a:rPr lang="zh-CN" altLang="en-US" dirty="0">
                <a:solidFill>
                  <a:srgbClr val="C00000"/>
                </a:solidFill>
              </a:rPr>
              <a:t>命令和软件</a:t>
            </a:r>
            <a:r>
              <a:rPr lang="zh-CN" altLang="en-US" dirty="0"/>
              <a:t>，例如</a:t>
            </a:r>
            <a:r>
              <a:rPr lang="en-US" altLang="zh-CN" dirty="0"/>
              <a:t>ls, cd, cp, vim</a:t>
            </a:r>
            <a:r>
              <a:rPr lang="zh-CN" altLang="en-US" dirty="0"/>
              <a:t>等</a:t>
            </a:r>
          </a:p>
          <a:p>
            <a:r>
              <a:rPr lang="zh-CN" altLang="en-US" dirty="0"/>
              <a:t>虚拟机中已包含</a:t>
            </a:r>
            <a:r>
              <a:rPr lang="en-US" altLang="zh-CN" dirty="0"/>
              <a:t>QEMU</a:t>
            </a:r>
            <a:r>
              <a:rPr lang="zh-CN" altLang="en-US" dirty="0"/>
              <a:t>模拟器和</a:t>
            </a:r>
            <a:r>
              <a:rPr lang="en-US" altLang="zh-CN" dirty="0"/>
              <a:t>RISC-V</a:t>
            </a:r>
            <a:r>
              <a:rPr lang="zh-CN" altLang="en-US" dirty="0"/>
              <a:t>的编译环境</a:t>
            </a:r>
          </a:p>
          <a:p>
            <a:r>
              <a:rPr lang="en-US" altLang="zh-CN" dirty="0"/>
              <a:t>Windows</a:t>
            </a:r>
            <a:r>
              <a:rPr lang="zh-CN" altLang="en-US" dirty="0"/>
              <a:t>系统可以选择在虚拟机启动的情况下用</a:t>
            </a:r>
            <a:r>
              <a:rPr lang="en-US" altLang="zh-CN" dirty="0" err="1"/>
              <a:t>Xshell</a:t>
            </a:r>
            <a:r>
              <a:rPr lang="zh-CN" altLang="en-US" dirty="0"/>
              <a:t>、</a:t>
            </a:r>
            <a:r>
              <a:rPr lang="en-US" altLang="zh-CN" dirty="0" err="1"/>
              <a:t>MobaXTerm</a:t>
            </a:r>
            <a:r>
              <a:rPr lang="zh-CN" altLang="en-US" dirty="0"/>
              <a:t>、</a:t>
            </a:r>
            <a:r>
              <a:rPr lang="en-US" altLang="zh-CN" dirty="0" err="1"/>
              <a:t>vscode</a:t>
            </a:r>
            <a:r>
              <a:rPr lang="zh-CN" altLang="en-US" dirty="0"/>
              <a:t>等软件</a:t>
            </a:r>
            <a:r>
              <a:rPr lang="en-US" altLang="zh-CN" dirty="0"/>
              <a:t>ssh</a:t>
            </a:r>
            <a:r>
              <a:rPr lang="zh-CN" altLang="en-US" dirty="0"/>
              <a:t>连接</a:t>
            </a:r>
          </a:p>
          <a:p>
            <a:pPr lvl="1"/>
            <a:r>
              <a:rPr lang="en-US" altLang="zh-CN" dirty="0" err="1"/>
              <a:t>sd</a:t>
            </a:r>
            <a:r>
              <a:rPr lang="zh-CN" altLang="en-US" dirty="0"/>
              <a:t>卡中拷贝有</a:t>
            </a:r>
            <a:r>
              <a:rPr lang="en-US" altLang="zh-CN" dirty="0" err="1"/>
              <a:t>MobaXTerm</a:t>
            </a:r>
            <a:r>
              <a:rPr lang="zh-CN" altLang="en-US" dirty="0"/>
              <a:t>的安装包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新建链接：</a:t>
            </a:r>
            <a:r>
              <a:rPr lang="en-US" altLang="zh-CN" dirty="0">
                <a:solidFill>
                  <a:srgbClr val="C00000"/>
                </a:solidFill>
              </a:rPr>
              <a:t>IP</a:t>
            </a:r>
            <a:r>
              <a:rPr lang="zh-CN" altLang="en-US" dirty="0">
                <a:solidFill>
                  <a:srgbClr val="C00000"/>
                </a:solidFill>
              </a:rPr>
              <a:t>：</a:t>
            </a:r>
            <a:r>
              <a:rPr lang="en-US" altLang="zh-CN" dirty="0">
                <a:solidFill>
                  <a:srgbClr val="C00000"/>
                </a:solidFill>
              </a:rPr>
              <a:t>127.0.0.1</a:t>
            </a:r>
            <a:r>
              <a:rPr lang="zh-CN" altLang="en-US" dirty="0">
                <a:solidFill>
                  <a:srgbClr val="C00000"/>
                </a:solidFill>
              </a:rPr>
              <a:t>，端口：</a:t>
            </a:r>
            <a:r>
              <a:rPr lang="en-US" altLang="zh-CN" dirty="0">
                <a:solidFill>
                  <a:srgbClr val="C00000"/>
                </a:solidFill>
              </a:rPr>
              <a:t>2333</a:t>
            </a:r>
          </a:p>
          <a:p>
            <a:pPr lvl="1"/>
            <a:r>
              <a:rPr lang="zh-CN" altLang="en-US" dirty="0"/>
              <a:t>解决字体、多窗口等问题</a:t>
            </a:r>
          </a:p>
          <a:p>
            <a:r>
              <a:rPr lang="zh-CN" altLang="en-US" dirty="0"/>
              <a:t>（不推荐）如果有自带</a:t>
            </a:r>
            <a:r>
              <a:rPr lang="en-US" altLang="zh-CN" dirty="0"/>
              <a:t>Linux</a:t>
            </a:r>
            <a:r>
              <a:rPr lang="zh-CN" altLang="en-US" dirty="0"/>
              <a:t>系统的同学也可以用自带的系统，但是需要安装交叉编译环境并拷贝</a:t>
            </a:r>
            <a:r>
              <a:rPr lang="en-US" altLang="zh-CN" dirty="0"/>
              <a:t>QEMU</a:t>
            </a:r>
            <a:r>
              <a:rPr lang="zh-CN" altLang="en-US" dirty="0"/>
              <a:t>模拟器。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9740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Gitlab</a:t>
            </a:r>
            <a:r>
              <a:rPr lang="zh-CN" altLang="en-US" dirty="0"/>
              <a:t>环境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gitlab</a:t>
            </a:r>
            <a:r>
              <a:rPr lang="zh-CN" altLang="en-US" dirty="0"/>
              <a:t>云环境来管理同学们的提交代码，同学们也可以用这个环境来管理和备份自己的代码版本</a:t>
            </a:r>
            <a:endParaRPr lang="en-US" altLang="zh-CN" dirty="0"/>
          </a:p>
          <a:p>
            <a:r>
              <a:rPr lang="zh-CN" altLang="en-US" dirty="0"/>
              <a:t>与组成原理课相同，</a:t>
            </a:r>
            <a:r>
              <a:rPr lang="en-US" altLang="zh-CN" dirty="0" err="1"/>
              <a:t>gitlab</a:t>
            </a:r>
            <a:r>
              <a:rPr lang="zh-CN" altLang="en-US" dirty="0"/>
              <a:t>链接为：</a:t>
            </a:r>
            <a:endParaRPr lang="en-US" altLang="zh-CN" dirty="0"/>
          </a:p>
          <a:p>
            <a:pPr lvl="1"/>
            <a:r>
              <a:rPr lang="en-US" altLang="zh-CN" dirty="0">
                <a:hlinkClick r:id="rId3"/>
              </a:rPr>
              <a:t>http://8.152.206.202/</a:t>
            </a:r>
            <a:endParaRPr lang="en-US" altLang="zh-CN" dirty="0"/>
          </a:p>
          <a:p>
            <a:pPr lvl="1"/>
            <a:r>
              <a:rPr lang="zh-CN" altLang="en-US" dirty="0"/>
              <a:t>没有账号的同学请将你的常用邮箱号发给我（</a:t>
            </a:r>
            <a:r>
              <a:rPr lang="en-US" altLang="zh-CN" dirty="0"/>
              <a:t>lutianyue@ict.ac.cn</a:t>
            </a:r>
            <a:r>
              <a:rPr lang="zh-CN" altLang="en-US" dirty="0"/>
              <a:t>），用于请管理员注册新的账号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16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Gitlab</a:t>
            </a:r>
            <a:r>
              <a:rPr lang="zh-CN" altLang="en-US" dirty="0"/>
              <a:t>仓库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68438"/>
            <a:ext cx="8229600" cy="4637112"/>
          </a:xfrm>
        </p:spPr>
        <p:txBody>
          <a:bodyPr>
            <a:normAutofit/>
          </a:bodyPr>
          <a:lstStyle/>
          <a:p>
            <a:r>
              <a:rPr lang="zh-CN" altLang="en-US" dirty="0"/>
              <a:t>有账号的同学已经有了仓库，内容是本次预备课作业的</a:t>
            </a:r>
            <a:r>
              <a:rPr lang="en-US" altLang="zh-CN" dirty="0"/>
              <a:t>start-code</a:t>
            </a:r>
          </a:p>
          <a:p>
            <a:pPr lvl="1"/>
            <a:r>
              <a:rPr lang="zh-CN" altLang="en-US" dirty="0"/>
              <a:t>后续课程每个</a:t>
            </a:r>
            <a:r>
              <a:rPr lang="en-US" altLang="zh-CN" dirty="0"/>
              <a:t>project</a:t>
            </a:r>
            <a:r>
              <a:rPr lang="zh-CN" altLang="en-US" dirty="0"/>
              <a:t>也都会提供一些</a:t>
            </a:r>
            <a:r>
              <a:rPr lang="en-US" altLang="zh-CN" dirty="0"/>
              <a:t>start-code</a:t>
            </a:r>
            <a:r>
              <a:rPr lang="zh-CN" altLang="en-US" dirty="0"/>
              <a:t>作为提示和引导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E9C8197-3096-8BC6-DCF0-9E3EAC9F3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533" y="3573016"/>
            <a:ext cx="5966933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865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B2D38-D7E4-7CCC-2E90-B100738E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EE1FF7-F1E7-934B-D944-3A732BE9D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5B1C34-D1E1-F338-DB41-3805675E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68438"/>
            <a:ext cx="8229600" cy="4787912"/>
          </a:xfrm>
        </p:spPr>
        <p:txBody>
          <a:bodyPr>
            <a:normAutofit fontScale="85000" lnSpcReduction="20000"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本地配置</a:t>
            </a:r>
            <a:endParaRPr lang="en-US" altLang="zh-CN" dirty="0"/>
          </a:p>
          <a:p>
            <a:pPr lvl="1"/>
            <a:r>
              <a:rPr lang="zh-CN" altLang="en-US" dirty="0"/>
              <a:t>配置 </a:t>
            </a:r>
            <a:r>
              <a:rPr lang="en-US" altLang="zh-CN" dirty="0"/>
              <a:t>Git </a:t>
            </a:r>
            <a:r>
              <a:rPr lang="zh-CN" altLang="en-US" dirty="0"/>
              <a:t>的用户名和邮箱 </a:t>
            </a:r>
          </a:p>
          <a:p>
            <a:pPr lvl="1"/>
            <a:r>
              <a:rPr lang="en-US" altLang="zh-CN" dirty="0"/>
              <a:t>git config --global user.name "&lt;Your Name&gt;" </a:t>
            </a:r>
          </a:p>
          <a:p>
            <a:pPr lvl="1"/>
            <a:r>
              <a:rPr lang="en-US" altLang="zh-CN" dirty="0"/>
              <a:t>git config --global </a:t>
            </a:r>
            <a:r>
              <a:rPr lang="en-US" altLang="zh-CN" dirty="0" err="1"/>
              <a:t>user.email</a:t>
            </a:r>
            <a:r>
              <a:rPr lang="en-US" altLang="zh-CN" dirty="0"/>
              <a:t> "&lt;Your Email&gt;" </a:t>
            </a:r>
          </a:p>
          <a:p>
            <a:r>
              <a:rPr lang="en-US" altLang="zh-CN" dirty="0"/>
              <a:t>Git clone</a:t>
            </a:r>
            <a:r>
              <a:rPr lang="zh-CN" altLang="en-US" dirty="0"/>
              <a:t>到本地</a:t>
            </a:r>
            <a:endParaRPr lang="en-US" altLang="zh-CN" dirty="0"/>
          </a:p>
          <a:p>
            <a:pPr lvl="1"/>
            <a:r>
              <a:rPr lang="en-US" altLang="zh-CN" dirty="0"/>
              <a:t>git clone &lt;URL&gt;</a:t>
            </a:r>
          </a:p>
          <a:p>
            <a:r>
              <a:rPr lang="zh-CN" altLang="en-US" dirty="0"/>
              <a:t>代码提交与推送 </a:t>
            </a:r>
          </a:p>
          <a:p>
            <a:pPr lvl="1"/>
            <a:r>
              <a:rPr lang="en-US" altLang="zh-CN" dirty="0"/>
              <a:t>1. </a:t>
            </a:r>
            <a:r>
              <a:rPr lang="zh-CN" altLang="en-US" dirty="0"/>
              <a:t>提交至暂存区</a:t>
            </a:r>
          </a:p>
          <a:p>
            <a:pPr lvl="2"/>
            <a:r>
              <a:rPr lang="en-US" altLang="zh-CN" dirty="0"/>
              <a:t>git add &lt;</a:t>
            </a:r>
            <a:r>
              <a:rPr lang="zh-CN" altLang="en-US" dirty="0"/>
              <a:t>文件名或路径</a:t>
            </a:r>
            <a:r>
              <a:rPr lang="en-US" altLang="zh-CN" dirty="0"/>
              <a:t>&gt;</a:t>
            </a:r>
            <a:endParaRPr lang="zh-CN" altLang="en-US" dirty="0"/>
          </a:p>
          <a:p>
            <a:pPr lvl="1"/>
            <a:r>
              <a:rPr lang="en-US" altLang="zh-CN" dirty="0"/>
              <a:t>2. </a:t>
            </a:r>
            <a:r>
              <a:rPr lang="zh-CN" altLang="en-US" dirty="0"/>
              <a:t>提交修改</a:t>
            </a:r>
            <a:r>
              <a:rPr lang="en-US" altLang="zh-CN" dirty="0"/>
              <a:t>(</a:t>
            </a:r>
            <a:r>
              <a:rPr lang="zh-CN" altLang="en-US" dirty="0"/>
              <a:t>本地仓库版本更改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git commit -m "commit message" </a:t>
            </a:r>
          </a:p>
          <a:p>
            <a:pPr lvl="1"/>
            <a:r>
              <a:rPr lang="en-US" altLang="zh-CN" dirty="0"/>
              <a:t>3. </a:t>
            </a:r>
            <a:r>
              <a:rPr lang="zh-CN" altLang="en-US" dirty="0"/>
              <a:t>推送至</a:t>
            </a:r>
            <a:r>
              <a:rPr lang="en-US" altLang="zh-CN" dirty="0"/>
              <a:t>GitLab</a:t>
            </a:r>
            <a:r>
              <a:rPr lang="zh-CN" altLang="en-US" dirty="0"/>
              <a:t>远程仓库</a:t>
            </a:r>
          </a:p>
          <a:p>
            <a:pPr lvl="2"/>
            <a:r>
              <a:rPr lang="en-US" altLang="zh-CN" dirty="0"/>
              <a:t>git push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8CDD56-6391-97C3-A14F-2D43790F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870FCC7-3E05-F030-D495-D05EA600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FA948C0-644F-A33D-CDD2-057C18F9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2120" y="3080071"/>
            <a:ext cx="3145872" cy="1659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536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</a:t>
            </a:r>
            <a:r>
              <a:rPr lang="en-US" altLang="zh-CN" dirty="0"/>
              <a:t>git</a:t>
            </a:r>
            <a:r>
              <a:rPr lang="zh-CN" altLang="en-US" dirty="0"/>
              <a:t>管理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/>
          </a:bodyPr>
          <a:lstStyle/>
          <a:p>
            <a:r>
              <a:rPr lang="zh-CN" altLang="en-US" dirty="0"/>
              <a:t>每个</a:t>
            </a:r>
            <a:r>
              <a:rPr lang="en-US" altLang="zh-CN" dirty="0"/>
              <a:t>project</a:t>
            </a:r>
            <a:r>
              <a:rPr lang="zh-CN" altLang="en-US" dirty="0"/>
              <a:t>一个分支，并且每个</a:t>
            </a:r>
            <a:r>
              <a:rPr lang="en-US" altLang="zh-CN" dirty="0"/>
              <a:t>project</a:t>
            </a:r>
            <a:r>
              <a:rPr lang="zh-CN" altLang="en-US" dirty="0"/>
              <a:t>都有一个初始代码，成为</a:t>
            </a:r>
            <a:r>
              <a:rPr lang="en-US" altLang="zh-CN" dirty="0"/>
              <a:t>start-code</a:t>
            </a:r>
          </a:p>
          <a:p>
            <a:pPr lvl="1"/>
            <a:r>
              <a:rPr lang="zh-CN" altLang="en-US" dirty="0"/>
              <a:t>每次建好分支之后，通过</a:t>
            </a:r>
            <a:r>
              <a:rPr lang="en-US" altLang="zh-CN" dirty="0"/>
              <a:t>git merge</a:t>
            </a:r>
            <a:r>
              <a:rPr lang="zh-CN" altLang="en-US" dirty="0"/>
              <a:t>的方式获取新的</a:t>
            </a:r>
            <a:r>
              <a:rPr lang="en-US" altLang="zh-CN" dirty="0"/>
              <a:t>start-code</a:t>
            </a:r>
            <a:r>
              <a:rPr lang="zh-CN" altLang="en-US" dirty="0"/>
              <a:t>（后续到</a:t>
            </a:r>
            <a:r>
              <a:rPr lang="en-US" altLang="zh-CN" dirty="0"/>
              <a:t>P2</a:t>
            </a:r>
            <a:r>
              <a:rPr lang="zh-CN" altLang="en-US" dirty="0"/>
              <a:t>之前会详细说明）</a:t>
            </a:r>
            <a:endParaRPr lang="en-US" altLang="zh-CN" dirty="0"/>
          </a:p>
          <a:p>
            <a:r>
              <a:rPr lang="zh-CN" altLang="en-US" dirty="0"/>
              <a:t>其他常用</a:t>
            </a:r>
            <a:r>
              <a:rPr lang="en-US" altLang="zh-CN" dirty="0"/>
              <a:t>git</a:t>
            </a:r>
            <a:r>
              <a:rPr lang="zh-CN" altLang="en-US" dirty="0"/>
              <a:t>命令</a:t>
            </a:r>
            <a:endParaRPr lang="en-US" altLang="zh-CN" dirty="0"/>
          </a:p>
          <a:p>
            <a:pPr lvl="1"/>
            <a:r>
              <a:rPr lang="en-US" altLang="zh-CN" dirty="0"/>
              <a:t>git checkout</a:t>
            </a:r>
            <a:r>
              <a:rPr lang="zh-CN" altLang="en-US" dirty="0"/>
              <a:t>切换版本</a:t>
            </a:r>
            <a:endParaRPr lang="en-US" altLang="zh-CN" dirty="0"/>
          </a:p>
          <a:p>
            <a:pPr lvl="1"/>
            <a:r>
              <a:rPr lang="en-US" altLang="zh-CN" dirty="0"/>
              <a:t>git log</a:t>
            </a:r>
            <a:r>
              <a:rPr lang="zh-CN" altLang="en-US" dirty="0"/>
              <a:t>查看</a:t>
            </a:r>
            <a:r>
              <a:rPr lang="en-US" altLang="zh-CN" dirty="0"/>
              <a:t>log</a:t>
            </a:r>
            <a:r>
              <a:rPr lang="zh-CN" altLang="en-US" dirty="0"/>
              <a:t>（</a:t>
            </a:r>
            <a:r>
              <a:rPr lang="en-US" altLang="zh-CN" dirty="0"/>
              <a:t>git commit</a:t>
            </a:r>
            <a:r>
              <a:rPr lang="zh-CN" altLang="en-US" dirty="0"/>
              <a:t>后面写的文本）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4654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21784-5636-C703-04E2-667F4A23E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8647FC-7768-4CB8-678D-AE42146CD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P1 start-code</a:t>
            </a:r>
            <a:r>
              <a:rPr lang="zh-CN" altLang="en-US" dirty="0"/>
              <a:t>的获取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11245E-D0A5-7507-C65F-AE76E9B28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每次</a:t>
            </a:r>
            <a:r>
              <a:rPr lang="en-US" altLang="zh-CN" dirty="0"/>
              <a:t>project</a:t>
            </a:r>
            <a:r>
              <a:rPr lang="zh-CN" altLang="en-US" dirty="0"/>
              <a:t>前，助教老师会把该</a:t>
            </a:r>
            <a:r>
              <a:rPr lang="en-US" altLang="zh-CN" dirty="0"/>
              <a:t>project</a:t>
            </a:r>
            <a:r>
              <a:rPr lang="zh-CN" altLang="en-US" dirty="0"/>
              <a:t>的</a:t>
            </a:r>
            <a:r>
              <a:rPr lang="en-US" altLang="zh-CN" dirty="0"/>
              <a:t>start-code</a:t>
            </a:r>
            <a:r>
              <a:rPr lang="zh-CN" altLang="en-US" dirty="0"/>
              <a:t>上传，同学们通过</a:t>
            </a:r>
            <a:r>
              <a:rPr lang="en-US" altLang="zh-CN" dirty="0"/>
              <a:t>git</a:t>
            </a:r>
            <a:r>
              <a:rPr lang="zh-CN" altLang="en-US" dirty="0"/>
              <a:t>获取</a:t>
            </a:r>
            <a:endParaRPr lang="en-US" altLang="zh-CN" dirty="0"/>
          </a:p>
          <a:p>
            <a:pPr lvl="1"/>
            <a:r>
              <a:rPr lang="en-US" altLang="zh-CN" dirty="0"/>
              <a:t>git remote add upstream </a:t>
            </a:r>
            <a:r>
              <a:rPr lang="en-US" altLang="zh-CN" dirty="0">
                <a:hlinkClick r:id="rId3"/>
              </a:rPr>
              <a:t>http://8.152.206.202/ucas-os/os-2025-code.git</a:t>
            </a:r>
            <a:endParaRPr lang="en-US" altLang="zh-CN" dirty="0"/>
          </a:p>
          <a:p>
            <a:pPr lvl="2"/>
            <a:r>
              <a:rPr lang="zh-CN" altLang="en-US" dirty="0"/>
              <a:t>添加远程仓库</a:t>
            </a:r>
            <a:endParaRPr lang="en-US" altLang="zh-CN" dirty="0"/>
          </a:p>
          <a:p>
            <a:pPr lvl="1"/>
            <a:r>
              <a:rPr lang="en-US" altLang="zh-CN" dirty="0"/>
              <a:t>git checkout -b Project1</a:t>
            </a:r>
          </a:p>
          <a:p>
            <a:pPr lvl="2"/>
            <a:r>
              <a:rPr lang="zh-CN" altLang="en-US" dirty="0"/>
              <a:t>建立本地新分支</a:t>
            </a:r>
            <a:endParaRPr lang="en-US" altLang="zh-CN" dirty="0"/>
          </a:p>
          <a:p>
            <a:pPr lvl="1"/>
            <a:r>
              <a:rPr lang="en-US" altLang="zh-CN" dirty="0"/>
              <a:t>git pull upstream Project1</a:t>
            </a:r>
          </a:p>
          <a:p>
            <a:pPr lvl="2"/>
            <a:r>
              <a:rPr lang="zh-CN" altLang="en-US" dirty="0"/>
              <a:t>拉取代码</a:t>
            </a:r>
            <a:endParaRPr lang="en-US" altLang="zh-CN" dirty="0"/>
          </a:p>
          <a:p>
            <a:pPr lvl="1"/>
            <a:r>
              <a:rPr lang="en-US" altLang="zh-CN" dirty="0"/>
              <a:t>git push --set-upstream origin Project1</a:t>
            </a:r>
          </a:p>
          <a:p>
            <a:pPr lvl="2"/>
            <a:r>
              <a:rPr lang="zh-CN" altLang="en-US" dirty="0"/>
              <a:t>推送自己的新分支</a:t>
            </a:r>
            <a:endParaRPr lang="en-US" altLang="zh-CN" dirty="0"/>
          </a:p>
          <a:p>
            <a:r>
              <a:rPr lang="zh-CN" altLang="en-US" dirty="0"/>
              <a:t>后续</a:t>
            </a:r>
            <a:r>
              <a:rPr lang="en-US" altLang="zh-CN" dirty="0"/>
              <a:t>Project</a:t>
            </a:r>
            <a:r>
              <a:rPr lang="zh-CN" altLang="en-US" dirty="0"/>
              <a:t>会通过</a:t>
            </a:r>
            <a:r>
              <a:rPr lang="en-US" altLang="zh-CN" dirty="0"/>
              <a:t>git merge</a:t>
            </a:r>
            <a:r>
              <a:rPr lang="zh-CN" altLang="en-US" dirty="0"/>
              <a:t>的方式合并新老代码</a:t>
            </a:r>
            <a:endParaRPr lang="en-US" altLang="zh-CN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03EC84-5D18-A764-B34B-BFECCC4D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5BCAAB-DAE8-F1D7-A713-A9722DB8B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657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3C34-97AA-4ED2-A3D6-3B305495D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EE3518-7A02-B8A3-C4AD-1CEDA9F5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今日课程内容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E4A5D-24AD-63E6-E768-4E5B7FBF8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预备知识 </a:t>
            </a:r>
            <a:r>
              <a:rPr lang="en-US" altLang="zh-CN" dirty="0"/>
              <a:t>&amp; </a:t>
            </a:r>
            <a:r>
              <a:rPr lang="zh-CN" altLang="en-US" dirty="0"/>
              <a:t>课程环境搭建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、虚拟机 </a:t>
            </a:r>
            <a:r>
              <a:rPr lang="en-US" altLang="zh-CN" dirty="0"/>
              <a:t>&amp; git</a:t>
            </a:r>
            <a:r>
              <a:rPr lang="zh-CN" altLang="en-US" dirty="0"/>
              <a:t>环境搭建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RISC-V</a:t>
            </a:r>
            <a:r>
              <a:rPr lang="zh-CN" altLang="en-US" dirty="0">
                <a:solidFill>
                  <a:srgbClr val="C00000"/>
                </a:solidFill>
              </a:rPr>
              <a:t>汇编介绍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QEMU</a:t>
            </a:r>
            <a:r>
              <a:rPr lang="zh-CN" altLang="en-US" dirty="0"/>
              <a:t>模拟器和</a:t>
            </a:r>
            <a:r>
              <a:rPr lang="en-US" altLang="zh-CN" dirty="0" err="1"/>
              <a:t>gdb</a:t>
            </a:r>
            <a:r>
              <a:rPr lang="zh-CN" altLang="en-US" dirty="0"/>
              <a:t>介绍</a:t>
            </a:r>
            <a:endParaRPr lang="en-US" altLang="zh-CN" dirty="0"/>
          </a:p>
          <a:p>
            <a:r>
              <a:rPr lang="en-US" altLang="zh-CN" dirty="0"/>
              <a:t>4</a:t>
            </a:r>
            <a:r>
              <a:rPr lang="zh-CN" altLang="en-US" dirty="0"/>
              <a:t>、预备课作业：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号课上检查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B4B340-19AF-9599-6E12-F595DA522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C65C98-28C8-BA97-BB1C-621EDB557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0839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汇编简介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RISC-V</a:t>
            </a:r>
            <a:r>
              <a:rPr lang="zh-CN" altLang="en-US" dirty="0"/>
              <a:t>是一个基于精简指令集（</a:t>
            </a:r>
            <a:r>
              <a:rPr lang="en-US" altLang="zh-CN" dirty="0"/>
              <a:t>RISC</a:t>
            </a:r>
            <a:r>
              <a:rPr lang="zh-CN" altLang="en-US" dirty="0"/>
              <a:t>）原则的开源指令集架构（</a:t>
            </a:r>
            <a:r>
              <a:rPr lang="en-US" altLang="zh-CN" dirty="0"/>
              <a:t>ISA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共有 </a:t>
            </a:r>
            <a:r>
              <a:rPr lang="en-US" altLang="zh-CN" dirty="0"/>
              <a:t>32 </a:t>
            </a:r>
            <a:r>
              <a:rPr lang="zh-CN" altLang="en-US" dirty="0"/>
              <a:t>个通用寄存器</a:t>
            </a:r>
          </a:p>
          <a:p>
            <a:pPr lvl="1"/>
            <a:r>
              <a:rPr lang="zh-CN" altLang="en-US" dirty="0"/>
              <a:t>指令只有六种格式，并且所有的指令都是 </a:t>
            </a:r>
            <a:r>
              <a:rPr lang="en-US" altLang="zh-CN" dirty="0"/>
              <a:t>32 </a:t>
            </a:r>
            <a:r>
              <a:rPr lang="zh-CN" altLang="en-US" dirty="0"/>
              <a:t>位长</a:t>
            </a:r>
          </a:p>
          <a:p>
            <a:pPr lvl="2"/>
            <a:r>
              <a:rPr lang="zh-CN" altLang="en-US" dirty="0"/>
              <a:t>用于寄存器</a:t>
            </a:r>
            <a:r>
              <a:rPr lang="en-US" altLang="zh-CN" dirty="0"/>
              <a:t>-</a:t>
            </a:r>
            <a:r>
              <a:rPr lang="zh-CN" altLang="en-US" dirty="0"/>
              <a:t>寄存器操作的 </a:t>
            </a:r>
            <a:r>
              <a:rPr lang="en-US" altLang="zh-CN" dirty="0"/>
              <a:t>R </a:t>
            </a:r>
            <a:r>
              <a:rPr lang="zh-CN" altLang="en-US" dirty="0"/>
              <a:t>型指令</a:t>
            </a:r>
          </a:p>
          <a:p>
            <a:pPr lvl="2"/>
            <a:r>
              <a:rPr lang="zh-CN" altLang="en-US" dirty="0"/>
              <a:t>用于短立即数和访存 </a:t>
            </a:r>
            <a:r>
              <a:rPr lang="en-US" altLang="zh-CN" dirty="0"/>
              <a:t>load </a:t>
            </a:r>
            <a:r>
              <a:rPr lang="zh-CN" altLang="en-US" dirty="0"/>
              <a:t>操作的 </a:t>
            </a:r>
            <a:r>
              <a:rPr lang="en-US" altLang="zh-CN" dirty="0"/>
              <a:t>I </a:t>
            </a:r>
            <a:r>
              <a:rPr lang="zh-CN" altLang="en-US" dirty="0"/>
              <a:t>型指令</a:t>
            </a:r>
          </a:p>
          <a:p>
            <a:pPr lvl="2"/>
            <a:r>
              <a:rPr lang="zh-CN" altLang="en-US" dirty="0"/>
              <a:t>用于访存 </a:t>
            </a:r>
            <a:r>
              <a:rPr lang="en-US" altLang="zh-CN" dirty="0"/>
              <a:t>store </a:t>
            </a:r>
            <a:r>
              <a:rPr lang="zh-CN" altLang="en-US" dirty="0"/>
              <a:t>操作的 </a:t>
            </a:r>
            <a:r>
              <a:rPr lang="en-US" altLang="zh-CN" dirty="0"/>
              <a:t>S </a:t>
            </a:r>
            <a:r>
              <a:rPr lang="zh-CN" altLang="en-US" dirty="0"/>
              <a:t>型指令</a:t>
            </a:r>
          </a:p>
          <a:p>
            <a:pPr lvl="2"/>
            <a:r>
              <a:rPr lang="zh-CN" altLang="en-US" dirty="0"/>
              <a:t>用于条件跳转操作的 </a:t>
            </a:r>
            <a:r>
              <a:rPr lang="en-US" altLang="zh-CN" dirty="0"/>
              <a:t>B </a:t>
            </a:r>
            <a:r>
              <a:rPr lang="zh-CN" altLang="en-US" dirty="0"/>
              <a:t>型指令</a:t>
            </a:r>
          </a:p>
          <a:p>
            <a:pPr lvl="2"/>
            <a:r>
              <a:rPr lang="zh-CN" altLang="en-US" dirty="0"/>
              <a:t>用于长立即数的 </a:t>
            </a:r>
            <a:r>
              <a:rPr lang="en-US" altLang="zh-CN" dirty="0"/>
              <a:t>U </a:t>
            </a:r>
            <a:r>
              <a:rPr lang="zh-CN" altLang="en-US" dirty="0"/>
              <a:t>型指令</a:t>
            </a:r>
          </a:p>
          <a:p>
            <a:pPr lvl="2"/>
            <a:r>
              <a:rPr lang="zh-CN" altLang="en-US" dirty="0"/>
              <a:t>用于无条件跳转的 </a:t>
            </a:r>
            <a:r>
              <a:rPr lang="en-US" altLang="zh-CN" dirty="0"/>
              <a:t>J </a:t>
            </a:r>
            <a:r>
              <a:rPr lang="zh-CN" altLang="en-US" dirty="0"/>
              <a:t>型指令</a:t>
            </a:r>
          </a:p>
          <a:p>
            <a:pPr lvl="1"/>
            <a:r>
              <a:rPr lang="en-US" altLang="zh-CN" dirty="0"/>
              <a:t>Load/store </a:t>
            </a:r>
            <a:r>
              <a:rPr lang="zh-CN" altLang="en-US" dirty="0"/>
              <a:t>类指令负责将数据在内存和寄存器之间传输，其余指令都是寄存器之间的操作 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07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通用寄存器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14</a:t>
            </a:fld>
            <a:endParaRPr lang="zh-CN" altLang="en-US"/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219988EF-6853-683C-14CA-7941E0E716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252284"/>
              </p:ext>
            </p:extLst>
          </p:nvPr>
        </p:nvGraphicFramePr>
        <p:xfrm>
          <a:off x="683568" y="2307835"/>
          <a:ext cx="3669031" cy="3246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5612">
                  <a:extLst>
                    <a:ext uri="{9D8B030D-6E8A-4147-A177-3AD203B41FA5}">
                      <a16:colId xmlns:a16="http://schemas.microsoft.com/office/drawing/2014/main" val="4019533549"/>
                    </a:ext>
                  </a:extLst>
                </a:gridCol>
                <a:gridCol w="884392">
                  <a:extLst>
                    <a:ext uri="{9D8B030D-6E8A-4147-A177-3AD203B41FA5}">
                      <a16:colId xmlns:a16="http://schemas.microsoft.com/office/drawing/2014/main" val="690918535"/>
                    </a:ext>
                  </a:extLst>
                </a:gridCol>
                <a:gridCol w="1709027">
                  <a:extLst>
                    <a:ext uri="{9D8B030D-6E8A-4147-A177-3AD203B41FA5}">
                      <a16:colId xmlns:a16="http://schemas.microsoft.com/office/drawing/2014/main" val="60642911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寄存器编号 </a:t>
                      </a:r>
                      <a:endParaRPr lang="zh-CN" altLang="en-US" sz="14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寄存器名 </a:t>
                      </a:r>
                      <a:endParaRPr lang="zh-CN" altLang="en-US" sz="14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用途</a:t>
                      </a:r>
                      <a:endParaRPr lang="zh-CN" altLang="en-US" sz="1400" b="1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72269836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x0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zero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常数 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0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32642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1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子程序调用返回地址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01548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2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sp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栈指针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9386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3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gp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全局指针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813316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4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tp</a:t>
                      </a:r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线程指针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1035128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5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t0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临时寄存器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555056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x6-x7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Microsoft YaHei" panose="020B0503020204020204" pitchFamily="34" charset="-122"/>
                          <a:ea typeface="Microsoft YaHei" panose="020B0503020204020204" pitchFamily="34" charset="-122"/>
                        </a:rPr>
                        <a:t>t1-t2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临时寄存器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366723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x8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s0/</a:t>
                      </a:r>
                      <a:r>
                        <a:rPr lang="en-HK" sz="1400" kern="1200" dirty="0" err="1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</a:t>
                      </a: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  <a:p>
                      <a:pPr algn="ctr"/>
                      <a:endParaRPr 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存储寄存器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帧寄存器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439800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x9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s1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存储寄存器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8541832"/>
                  </a:ext>
                </a:extLst>
              </a:tr>
            </a:tbl>
          </a:graphicData>
        </a:graphic>
      </p:graphicFrame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8E72C63D-4EBA-62D8-B3BE-AAA235635C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07211617"/>
              </p:ext>
            </p:extLst>
          </p:nvPr>
        </p:nvGraphicFramePr>
        <p:xfrm>
          <a:off x="4901239" y="2565605"/>
          <a:ext cx="3669031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75612">
                  <a:extLst>
                    <a:ext uri="{9D8B030D-6E8A-4147-A177-3AD203B41FA5}">
                      <a16:colId xmlns:a16="http://schemas.microsoft.com/office/drawing/2014/main" val="4019533549"/>
                    </a:ext>
                  </a:extLst>
                </a:gridCol>
                <a:gridCol w="884392">
                  <a:extLst>
                    <a:ext uri="{9D8B030D-6E8A-4147-A177-3AD203B41FA5}">
                      <a16:colId xmlns:a16="http://schemas.microsoft.com/office/drawing/2014/main" val="690918535"/>
                    </a:ext>
                  </a:extLst>
                </a:gridCol>
                <a:gridCol w="1709027">
                  <a:extLst>
                    <a:ext uri="{9D8B030D-6E8A-4147-A177-3AD203B41FA5}">
                      <a16:colId xmlns:a16="http://schemas.microsoft.com/office/drawing/2014/main" val="606429117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x10-x11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a0-a1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函数入参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返回值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653264219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x12-x17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a2-a7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函数入参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96015482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x18-x27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s2-s11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存储寄存器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06093861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x28-x31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t3-t6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临时寄存器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8133166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f0-f7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ft0-ft7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临时寄存器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31035128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f8-f9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fs0-fs1 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存储寄存器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85550560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f10-f11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fa0-fa1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函数入参</a:t>
                      </a:r>
                      <a:r>
                        <a:rPr lang="en-US" altLang="zh-CN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返回值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6366723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f12-f17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fa2-fa7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函数入参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34398001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f18-f27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fs2-fs11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存储寄存器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2854183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f28-f31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ft8-ft11 </a:t>
                      </a:r>
                      <a:endParaRPr lang="en-HK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HK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FP </a:t>
                      </a:r>
                      <a:r>
                        <a:rPr lang="zh-CN" altLang="en-US" sz="1400" kern="1200" dirty="0">
                          <a:solidFill>
                            <a:schemeClr val="tx1"/>
                          </a:solidFill>
                          <a:effectLst/>
                          <a:latin typeface="Microsoft YaHei" panose="020B0503020204020204" pitchFamily="34" charset="-122"/>
                          <a:ea typeface="Microsoft YaHei" panose="020B0503020204020204" pitchFamily="34" charset="-122"/>
                          <a:cs typeface="+mn-cs"/>
                        </a:rPr>
                        <a:t>临时寄存器 </a:t>
                      </a:r>
                      <a:endParaRPr lang="zh-CN" altLang="en-US" sz="1400" dirty="0">
                        <a:latin typeface="Microsoft YaHei" panose="020B0503020204020204" pitchFamily="34" charset="-122"/>
                        <a:ea typeface="Microsoft YaHei" panose="020B0503020204020204" pitchFamily="34" charset="-122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55506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97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基本指令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运算指令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  <a:endParaRPr lang="en-US" altLang="zh-CN" sz="1800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add</a:t>
            </a:r>
            <a:r>
              <a:rPr lang="en-HK" altLang="zh-CN" dirty="0">
                <a:cs typeface="Times New Roman" panose="02020603050405020304" pitchFamily="18" charset="0"/>
              </a:rPr>
              <a:t> a0,a1,a2	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a0=a1+a2</a:t>
            </a:r>
          </a:p>
          <a:p>
            <a:pPr lvl="2">
              <a:lnSpc>
                <a:spcPct val="100000"/>
              </a:lnSpc>
            </a:pPr>
            <a:r>
              <a:rPr lang="en-HK" altLang="zh-CN" dirty="0">
                <a:cs typeface="Times New Roman" panose="02020603050405020304" pitchFamily="18" charset="0"/>
              </a:rPr>
              <a:t>加 (Add)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HK" altLang="zh-CN" dirty="0">
                <a:cs typeface="Times New Roman" panose="02020603050405020304" pitchFamily="18" charset="0"/>
              </a:rPr>
              <a:t>R </a:t>
            </a:r>
            <a:r>
              <a:rPr lang="zh-CN" altLang="en-US" dirty="0">
                <a:cs typeface="Times New Roman" panose="02020603050405020304" pitchFamily="18" charset="0"/>
              </a:rPr>
              <a:t>型指令，寄存器里的数相加</a:t>
            </a:r>
            <a:endParaRPr lang="en-HK" altLang="zh-CN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addi</a:t>
            </a:r>
            <a:r>
              <a:rPr lang="en-HK" altLang="zh-CN" dirty="0">
                <a:cs typeface="Times New Roman" panose="02020603050405020304" pitchFamily="18" charset="0"/>
              </a:rPr>
              <a:t> a0, a1, 0x10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a0=a1+0x10</a:t>
            </a:r>
          </a:p>
          <a:p>
            <a:pPr lvl="2">
              <a:lnSpc>
                <a:spcPct val="100000"/>
              </a:lnSpc>
            </a:pPr>
            <a:r>
              <a:rPr lang="en-HK" altLang="zh-CN" dirty="0" err="1">
                <a:cs typeface="Times New Roman" panose="02020603050405020304" pitchFamily="18" charset="0"/>
              </a:rPr>
              <a:t>加立即数</a:t>
            </a:r>
            <a:r>
              <a:rPr lang="en-HK" altLang="zh-CN" dirty="0">
                <a:cs typeface="Times New Roman" panose="02020603050405020304" pitchFamily="18" charset="0"/>
              </a:rPr>
              <a:t> (Add Immediate)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I</a:t>
            </a:r>
            <a:r>
              <a:rPr lang="zh-CN" altLang="en-US" dirty="0">
                <a:cs typeface="Times New Roman" panose="02020603050405020304" pitchFamily="18" charset="0"/>
              </a:rPr>
              <a:t> 型指令，立即数与寄存器里的数相加</a:t>
            </a:r>
            <a:endParaRPr lang="en-HK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sll</a:t>
            </a:r>
            <a:r>
              <a:rPr lang="en-HK" altLang="zh-CN" dirty="0">
                <a:cs typeface="Times New Roman" panose="02020603050405020304" pitchFamily="18" charset="0"/>
              </a:rPr>
              <a:t> a0, a1, a2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a0=a1&lt;&lt;a2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逻辑左移 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HK" altLang="zh-CN" dirty="0">
                <a:cs typeface="Times New Roman" panose="02020603050405020304" pitchFamily="18" charset="0"/>
              </a:rPr>
              <a:t>Shift Left Logical)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HK" altLang="zh-CN" dirty="0">
                <a:cs typeface="Times New Roman" panose="02020603050405020304" pitchFamily="18" charset="0"/>
              </a:rPr>
              <a:t> R </a:t>
            </a:r>
            <a:r>
              <a:rPr lang="zh-CN" altLang="en-US" dirty="0">
                <a:cs typeface="Times New Roman" panose="02020603050405020304" pitchFamily="18" charset="0"/>
              </a:rPr>
              <a:t>型指令，空出的位置填</a:t>
            </a:r>
            <a:r>
              <a:rPr lang="en-US" altLang="zh-CN" dirty="0">
                <a:cs typeface="Times New Roman" panose="02020603050405020304" pitchFamily="18" charset="0"/>
              </a:rPr>
              <a:t>0</a:t>
            </a:r>
            <a:endParaRPr lang="en-HK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slt</a:t>
            </a:r>
            <a:r>
              <a:rPr lang="en-HK" altLang="zh-CN" dirty="0">
                <a:cs typeface="Times New Roman" panose="02020603050405020304" pitchFamily="18" charset="0"/>
              </a:rPr>
              <a:t> a0, a1, a2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a0=a1&lt;a2?1:0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小于则置位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HK" altLang="zh-CN" dirty="0">
                <a:cs typeface="Times New Roman" panose="02020603050405020304" pitchFamily="18" charset="0"/>
              </a:rPr>
              <a:t>Set if Less Than), R </a:t>
            </a:r>
            <a:r>
              <a:rPr lang="zh-CN" altLang="en-US" dirty="0">
                <a:cs typeface="Times New Roman" panose="02020603050405020304" pitchFamily="18" charset="0"/>
              </a:rPr>
              <a:t>型指令</a:t>
            </a:r>
            <a:endParaRPr lang="en-HK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srl</a:t>
            </a:r>
            <a:r>
              <a:rPr lang="en-HK" altLang="zh-CN" dirty="0">
                <a:cs typeface="Times New Roman" panose="02020603050405020304" pitchFamily="18" charset="0"/>
              </a:rPr>
              <a:t>/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and</a:t>
            </a:r>
            <a:r>
              <a:rPr lang="en-HK" altLang="zh-CN" dirty="0">
                <a:cs typeface="Times New Roman" panose="02020603050405020304" pitchFamily="18" charset="0"/>
              </a:rPr>
              <a:t>/</a:t>
            </a: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xor</a:t>
            </a:r>
            <a:r>
              <a:rPr lang="en-HK" altLang="zh-CN" dirty="0">
                <a:cs typeface="Times New Roman" panose="02020603050405020304" pitchFamily="18" charset="0"/>
              </a:rPr>
              <a:t>/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or</a:t>
            </a:r>
            <a:r>
              <a:rPr lang="en-US" altLang="zh-CN" dirty="0">
                <a:cs typeface="Times New Roman" panose="02020603050405020304" pitchFamily="18" charset="0"/>
              </a:rPr>
              <a:t> ...</a:t>
            </a:r>
            <a:r>
              <a:rPr lang="en-HK" altLang="zh-CN" dirty="0">
                <a:cs typeface="Times New Roman" panose="02020603050405020304" pitchFamily="18" charset="0"/>
              </a:rPr>
              <a:t> </a:t>
            </a:r>
            <a:endParaRPr lang="en-HK" altLang="zh-CN" dirty="0">
              <a:effectLst/>
              <a:cs typeface="Times New Roman" panose="02020603050405020304" pitchFamily="18" charset="0"/>
            </a:endParaRP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5931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DEFAD07-2452-7F40-0E0A-3DFB59BEDCA8}"/>
              </a:ext>
            </a:extLst>
          </p:cNvPr>
          <p:cNvSpPr/>
          <p:nvPr/>
        </p:nvSpPr>
        <p:spPr>
          <a:xfrm>
            <a:off x="683568" y="4941168"/>
            <a:ext cx="8136904" cy="72008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RISC-V</a:t>
            </a:r>
            <a:r>
              <a:rPr lang="zh-CN" altLang="en-US" dirty="0"/>
              <a:t>基本指令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访存指令</a:t>
            </a:r>
            <a:r>
              <a:rPr lang="en-US" altLang="zh-CN" dirty="0">
                <a:cs typeface="Times New Roman" panose="02020603050405020304" pitchFamily="18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lw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HK" altLang="zh-CN" dirty="0">
                <a:cs typeface="Times New Roman" panose="02020603050405020304" pitchFamily="18" charset="0"/>
              </a:rPr>
              <a:t>a0, 0(s0)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a0=s0[0], load 32bit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字加载 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HK" altLang="zh-CN" dirty="0">
                <a:cs typeface="Times New Roman" panose="02020603050405020304" pitchFamily="18" charset="0"/>
              </a:rPr>
              <a:t>Load Word)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I</a:t>
            </a:r>
            <a:r>
              <a:rPr lang="zh-CN" altLang="en-US" dirty="0">
                <a:cs typeface="Times New Roman" panose="02020603050405020304" pitchFamily="18" charset="0"/>
              </a:rPr>
              <a:t> 型指令</a:t>
            </a:r>
            <a:endParaRPr lang="en-HK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ld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HK" altLang="zh-CN" dirty="0">
                <a:cs typeface="Times New Roman" panose="02020603050405020304" pitchFamily="18" charset="0"/>
              </a:rPr>
              <a:t>a0, 0(s0)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a0=s0[0], load 64bit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双字加载 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HK" altLang="zh-CN" dirty="0">
                <a:cs typeface="Times New Roman" panose="02020603050405020304" pitchFamily="18" charset="0"/>
              </a:rPr>
              <a:t>Load Doubleword)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I</a:t>
            </a:r>
            <a:r>
              <a:rPr lang="zh-CN" altLang="en-US" dirty="0">
                <a:cs typeface="Times New Roman" panose="02020603050405020304" pitchFamily="18" charset="0"/>
              </a:rPr>
              <a:t> 型指令</a:t>
            </a:r>
            <a:endParaRPr lang="en-HK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sw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HK" altLang="zh-CN" dirty="0">
                <a:cs typeface="Times New Roman" panose="02020603050405020304" pitchFamily="18" charset="0"/>
              </a:rPr>
              <a:t>a0, 0(s0)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s0[0]=a0, store 32bit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存字 </a:t>
            </a:r>
            <a:r>
              <a:rPr lang="en-US" altLang="zh-CN" dirty="0">
                <a:cs typeface="Times New Roman" panose="02020603050405020304" pitchFamily="18" charset="0"/>
              </a:rPr>
              <a:t>(</a:t>
            </a:r>
            <a:r>
              <a:rPr lang="en-HK" altLang="zh-CN" dirty="0">
                <a:cs typeface="Times New Roman" panose="02020603050405020304" pitchFamily="18" charset="0"/>
              </a:rPr>
              <a:t>Store Word)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cs typeface="Times New Roman" panose="02020603050405020304" pitchFamily="18" charset="0"/>
              </a:rPr>
              <a:t>型指令</a:t>
            </a:r>
            <a:endParaRPr lang="en-HK" altLang="zh-CN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HK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sd</a:t>
            </a:r>
            <a:r>
              <a:rPr lang="en-HK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HK" altLang="zh-CN" dirty="0">
                <a:cs typeface="Times New Roman" panose="02020603050405020304" pitchFamily="18" charset="0"/>
              </a:rPr>
              <a:t>a0, 0(s0) </a:t>
            </a:r>
            <a:r>
              <a:rPr lang="en-HK" altLang="zh-CN" dirty="0">
                <a:solidFill>
                  <a:schemeClr val="accent1"/>
                </a:solidFill>
                <a:cs typeface="Times New Roman" panose="02020603050405020304" pitchFamily="18" charset="0"/>
              </a:rPr>
              <a:t>// s0[0]=a0, store 64bit</a:t>
            </a:r>
          </a:p>
          <a:p>
            <a:pPr lvl="2">
              <a:lnSpc>
                <a:spcPct val="100000"/>
              </a:lnSpc>
            </a:pPr>
            <a:r>
              <a:rPr lang="zh-CN" altLang="en-US" dirty="0">
                <a:cs typeface="Times New Roman" panose="02020603050405020304" pitchFamily="18" charset="0"/>
              </a:rPr>
              <a:t>存双字</a:t>
            </a:r>
            <a:r>
              <a:rPr lang="en-US" altLang="zh-CN" dirty="0">
                <a:cs typeface="Times New Roman" panose="02020603050405020304" pitchFamily="18" charset="0"/>
              </a:rPr>
              <a:t> (</a:t>
            </a:r>
            <a:r>
              <a:rPr lang="en-HK" altLang="zh-CN" dirty="0">
                <a:cs typeface="Times New Roman" panose="02020603050405020304" pitchFamily="18" charset="0"/>
              </a:rPr>
              <a:t>Store Doubleword)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cs typeface="Times New Roman" panose="02020603050405020304" pitchFamily="18" charset="0"/>
              </a:rPr>
              <a:t>S </a:t>
            </a:r>
            <a:r>
              <a:rPr lang="zh-CN" altLang="en-US" dirty="0">
                <a:cs typeface="Times New Roman" panose="02020603050405020304" pitchFamily="18" charset="0"/>
              </a:rPr>
              <a:t>型指令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>
                <a:solidFill>
                  <a:srgbClr val="FF0000"/>
                </a:solidFill>
                <a:cs typeface="Times New Roman" panose="02020603050405020304" pitchFamily="18" charset="0"/>
              </a:rPr>
              <a:t>la</a:t>
            </a:r>
            <a:r>
              <a:rPr lang="en-US" altLang="zh-CN" dirty="0">
                <a:cs typeface="Times New Roman" panose="02020603050405020304" pitchFamily="18" charset="0"/>
              </a:rPr>
              <a:t> a0, SYMBOL 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// 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伪指令，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load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一个符号变量到地址</a:t>
            </a:r>
            <a:r>
              <a:rPr lang="en-US" altLang="zh-CN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endParaRPr lang="en-HK" altLang="zh-CN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lh</a:t>
            </a:r>
            <a:r>
              <a:rPr lang="en-US" altLang="zh-CN" dirty="0"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lb</a:t>
            </a:r>
            <a:r>
              <a:rPr lang="en-US" altLang="zh-CN" dirty="0"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lui</a:t>
            </a:r>
            <a:r>
              <a:rPr lang="en-US" altLang="zh-CN" dirty="0">
                <a:cs typeface="Times New Roman" panose="02020603050405020304" pitchFamily="18" charset="0"/>
              </a:rPr>
              <a:t>/</a:t>
            </a:r>
            <a:r>
              <a:rPr lang="en-US" altLang="zh-CN" dirty="0" err="1">
                <a:solidFill>
                  <a:srgbClr val="FF0000"/>
                </a:solidFill>
                <a:cs typeface="Times New Roman" panose="02020603050405020304" pitchFamily="18" charset="0"/>
              </a:rPr>
              <a:t>sh</a:t>
            </a:r>
            <a:r>
              <a:rPr lang="en-US" altLang="zh-CN" dirty="0">
                <a:cs typeface="Times New Roman" panose="02020603050405020304" pitchFamily="18" charset="0"/>
              </a:rPr>
              <a:t>/ ...</a:t>
            </a:r>
            <a:r>
              <a:rPr lang="en-HK" altLang="zh-CN" dirty="0">
                <a:cs typeface="Times New Roman" panose="02020603050405020304" pitchFamily="18" charset="0"/>
              </a:rPr>
              <a:t> 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07439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语言到汇编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9CE7C39-BF91-CC3B-1711-8A56292818D0}"/>
              </a:ext>
            </a:extLst>
          </p:cNvPr>
          <p:cNvSpPr txBox="1">
            <a:spLocks/>
          </p:cNvSpPr>
          <p:nvPr/>
        </p:nvSpPr>
        <p:spPr>
          <a:xfrm>
            <a:off x="628650" y="1844824"/>
            <a:ext cx="3943350" cy="32635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HK" sz="2600" dirty="0">
                <a:cs typeface="Times New Roman" panose="02020603050405020304" pitchFamily="18" charset="0"/>
              </a:rPr>
              <a:t>C</a:t>
            </a:r>
            <a:r>
              <a:rPr lang="zh-CN" altLang="en-US" sz="2600" dirty="0">
                <a:cs typeface="Times New Roman" panose="02020603050405020304" pitchFamily="18" charset="0"/>
              </a:rPr>
              <a:t>代码</a:t>
            </a:r>
          </a:p>
          <a:p>
            <a:pPr marL="0" indent="0">
              <a:buFont typeface="Arial" pitchFamily="34" charset="0"/>
              <a:buNone/>
            </a:pPr>
            <a:r>
              <a:rPr lang="en-HK" dirty="0">
                <a:cs typeface="Times New Roman" panose="02020603050405020304" pitchFamily="18" charset="0"/>
              </a:rPr>
              <a:t>if(a0 == a1</a:t>
            </a:r>
            <a:r>
              <a:rPr lang="en-US" dirty="0">
                <a:cs typeface="Times New Roman" panose="02020603050405020304" pitchFamily="18" charset="0"/>
              </a:rPr>
              <a:t>){</a:t>
            </a:r>
            <a:endParaRPr lang="en-HK" dirty="0"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HK" dirty="0">
                <a:solidFill>
                  <a:srgbClr val="4F7FBC"/>
                </a:solidFill>
                <a:cs typeface="Times New Roman" panose="02020603050405020304" pitchFamily="18" charset="0"/>
              </a:rPr>
              <a:t>	</a:t>
            </a:r>
            <a:r>
              <a:rPr lang="en-HK" dirty="0">
                <a:solidFill>
                  <a:schemeClr val="accent1"/>
                </a:solidFill>
                <a:cs typeface="Times New Roman" panose="02020603050405020304" pitchFamily="18" charset="0"/>
              </a:rPr>
              <a:t>// do </a:t>
            </a:r>
            <a:r>
              <a:rPr lang="en-HK" dirty="0" err="1">
                <a:solidFill>
                  <a:schemeClr val="accent1"/>
                </a:solidFill>
                <a:cs typeface="Times New Roman" panose="02020603050405020304" pitchFamily="18" charset="0"/>
              </a:rPr>
              <a:t>somthing</a:t>
            </a:r>
            <a:endParaRPr lang="en-HK" dirty="0">
              <a:solidFill>
                <a:schemeClr val="accent1"/>
              </a:solidFill>
              <a:cs typeface="Times New Roman" panose="020206030504050203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HK" dirty="0">
                <a:cs typeface="Times New Roman" panose="02020603050405020304" pitchFamily="18" charset="0"/>
              </a:rPr>
              <a:t>}else{ </a:t>
            </a:r>
          </a:p>
          <a:p>
            <a:pPr marL="0" indent="0">
              <a:buFont typeface="Arial" pitchFamily="34" charset="0"/>
              <a:buNone/>
            </a:pPr>
            <a:r>
              <a:rPr lang="en-HK" dirty="0">
                <a:solidFill>
                  <a:srgbClr val="4F7FBC"/>
                </a:solidFill>
                <a:cs typeface="Times New Roman" panose="02020603050405020304" pitchFamily="18" charset="0"/>
              </a:rPr>
              <a:t>	</a:t>
            </a:r>
            <a:r>
              <a:rPr lang="en-HK" dirty="0">
                <a:solidFill>
                  <a:schemeClr val="accent1"/>
                </a:solidFill>
                <a:cs typeface="Times New Roman" panose="02020603050405020304" pitchFamily="18" charset="0"/>
              </a:rPr>
              <a:t>// do</a:t>
            </a:r>
            <a:r>
              <a:rPr lang="zh-CN" altLang="en-US" dirty="0">
                <a:solidFill>
                  <a:schemeClr val="accent1"/>
                </a:solidFill>
                <a:cs typeface="Times New Roman" panose="02020603050405020304" pitchFamily="18" charset="0"/>
              </a:rPr>
              <a:t> </a:t>
            </a:r>
            <a:r>
              <a:rPr lang="en-HK" dirty="0">
                <a:solidFill>
                  <a:schemeClr val="accent1"/>
                </a:solidFill>
                <a:cs typeface="Times New Roman" panose="02020603050405020304" pitchFamily="18" charset="0"/>
              </a:rPr>
              <a:t>other</a:t>
            </a:r>
          </a:p>
          <a:p>
            <a:pPr marL="0" indent="0">
              <a:buFont typeface="Arial" pitchFamily="34" charset="0"/>
              <a:buNone/>
            </a:pPr>
            <a:r>
              <a:rPr lang="en-HK" dirty="0">
                <a:cs typeface="Times New Roman" panose="02020603050405020304" pitchFamily="18" charset="0"/>
              </a:rPr>
              <a:t>} 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13E30E1-5988-1114-AAFF-D3ADD542A587}"/>
              </a:ext>
            </a:extLst>
          </p:cNvPr>
          <p:cNvSpPr txBox="1">
            <a:spLocks/>
          </p:cNvSpPr>
          <p:nvPr/>
        </p:nvSpPr>
        <p:spPr>
          <a:xfrm>
            <a:off x="4666130" y="1851758"/>
            <a:ext cx="394335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itchFamily="2" charset="2"/>
              <a:buChar char="Ø"/>
            </a:pPr>
            <a:r>
              <a:rPr lang="en-HK" sz="2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RISC-V</a:t>
            </a:r>
            <a:r>
              <a:rPr lang="zh-CN" altLang="en-US" sz="2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汇编</a:t>
            </a:r>
            <a:b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HK" altLang="zh-CN" sz="2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1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bne</a:t>
            </a:r>
            <a:r>
              <a:rPr lang="en-HK" sz="2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HK" sz="2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a0, a1, </a:t>
            </a:r>
            <a:r>
              <a:rPr lang="en-HK" sz="2100" dirty="0" err="1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do_else</a:t>
            </a:r>
            <a:r>
              <a:rPr lang="en-HK" sz="21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en-HK" sz="2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HK" sz="2100" dirty="0">
                <a:solidFill>
                  <a:srgbClr val="4F7F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do something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j </a:t>
            </a:r>
            <a:r>
              <a:rPr lang="en-HK" sz="21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done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100" dirty="0" err="1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do_else</a:t>
            </a:r>
            <a:r>
              <a:rPr lang="en-HK" sz="21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100" dirty="0">
                <a:solidFill>
                  <a:srgbClr val="4F7F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1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do other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1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done: </a:t>
            </a:r>
            <a:endParaRPr lang="en-HK" sz="2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5A8C2407-8C56-95F7-AA8B-43F6D6AA9BC5}"/>
              </a:ext>
            </a:extLst>
          </p:cNvPr>
          <p:cNvSpPr txBox="1"/>
          <p:nvPr/>
        </p:nvSpPr>
        <p:spPr>
          <a:xfrm>
            <a:off x="628651" y="5455101"/>
            <a:ext cx="5113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注：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不相等时分支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HK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Branch if Not Equal)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749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C</a:t>
            </a:r>
            <a:r>
              <a:rPr lang="zh-CN" altLang="en-US" dirty="0"/>
              <a:t>语言到汇编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69E87-9DC0-A537-BFE5-92FCA51CF3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757796"/>
            <a:ext cx="4452396" cy="349210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HK" sz="2400" dirty="0">
                <a:cs typeface="Times New Roman" panose="02020603050405020304" pitchFamily="18" charset="0"/>
              </a:rPr>
              <a:t>C</a:t>
            </a:r>
            <a:r>
              <a:rPr lang="zh-CN" altLang="en-US" sz="2400" dirty="0">
                <a:cs typeface="Times New Roman" panose="02020603050405020304" pitchFamily="18" charset="0"/>
              </a:rPr>
              <a:t>代码</a:t>
            </a:r>
            <a:endParaRPr lang="en-US" altLang="zh-CN" sz="2400" dirty="0"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HK" sz="2800" dirty="0">
                <a:cs typeface="Times New Roman" panose="02020603050405020304" pitchFamily="18" charset="0"/>
              </a:rPr>
              <a:t>for(</a:t>
            </a:r>
            <a:r>
              <a:rPr lang="en-HK" sz="2800" dirty="0" err="1">
                <a:cs typeface="Times New Roman" panose="02020603050405020304" pitchFamily="18" charset="0"/>
              </a:rPr>
              <a:t>i</a:t>
            </a:r>
            <a:r>
              <a:rPr lang="en-HK" sz="2800" dirty="0">
                <a:cs typeface="Times New Roman" panose="02020603050405020304" pitchFamily="18" charset="0"/>
              </a:rPr>
              <a:t>=0; </a:t>
            </a:r>
            <a:r>
              <a:rPr lang="en-HK" sz="2800" dirty="0" err="1">
                <a:cs typeface="Times New Roman" panose="02020603050405020304" pitchFamily="18" charset="0"/>
              </a:rPr>
              <a:t>i</a:t>
            </a:r>
            <a:r>
              <a:rPr lang="en-HK" sz="2800" dirty="0">
                <a:cs typeface="Times New Roman" panose="02020603050405020304" pitchFamily="18" charset="0"/>
              </a:rPr>
              <a:t>&lt;n; </a:t>
            </a:r>
            <a:r>
              <a:rPr lang="en-HK" sz="2800" dirty="0" err="1">
                <a:cs typeface="Times New Roman" panose="02020603050405020304" pitchFamily="18" charset="0"/>
              </a:rPr>
              <a:t>i</a:t>
            </a:r>
            <a:r>
              <a:rPr lang="en-HK" sz="2800" dirty="0">
                <a:cs typeface="Times New Roman" panose="02020603050405020304" pitchFamily="18" charset="0"/>
              </a:rPr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800" dirty="0">
                <a:solidFill>
                  <a:srgbClr val="4F7FBC"/>
                </a:solidFill>
                <a:cs typeface="Times New Roman" panose="02020603050405020304" pitchFamily="18" charset="0"/>
              </a:rPr>
              <a:t>	</a:t>
            </a:r>
            <a:r>
              <a:rPr lang="en-HK" sz="2800" dirty="0">
                <a:solidFill>
                  <a:schemeClr val="accent1"/>
                </a:solidFill>
                <a:cs typeface="Times New Roman" panose="02020603050405020304" pitchFamily="18" charset="0"/>
              </a:rPr>
              <a:t>// do something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HK" sz="2800" dirty="0">
                <a:cs typeface="Times New Roman" panose="02020603050405020304" pitchFamily="18" charset="0"/>
              </a:rPr>
              <a:t>} </a:t>
            </a:r>
          </a:p>
          <a:p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21B819C-79C8-D60D-B802-810D69C428A3}"/>
              </a:ext>
            </a:extLst>
          </p:cNvPr>
          <p:cNvSpPr txBox="1">
            <a:spLocks/>
          </p:cNvSpPr>
          <p:nvPr/>
        </p:nvSpPr>
        <p:spPr>
          <a:xfrm>
            <a:off x="4499992" y="1742304"/>
            <a:ext cx="4977353" cy="4495008"/>
          </a:xfrm>
          <a:prstGeom prst="rect">
            <a:avLst/>
          </a:prstGeom>
        </p:spPr>
        <p:txBody>
          <a:bodyPr vert="horz" lIns="68580" tIns="34290" rIns="68580" bIns="3429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lang="en-HK" sz="2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RISC-V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汇编</a:t>
            </a:r>
            <a:endParaRPr lang="en-US" altLang="zh-CN" sz="2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HK" sz="21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li </a:t>
            </a:r>
            <a:r>
              <a:rPr lang="en-HK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0 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= 0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li </a:t>
            </a:r>
            <a:r>
              <a:rPr lang="en-HK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s1, n 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n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// if (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&gt;= n) 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goto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done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bge</a:t>
            </a: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HK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s1, </a:t>
            </a:r>
            <a:r>
              <a:rPr lang="en-HK" sz="24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done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loop: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// do something</a:t>
            </a:r>
            <a:br>
              <a:rPr lang="en-HK" sz="2400" dirty="0">
                <a:solidFill>
                  <a:srgbClr val="4F7F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lang="en-HK" sz="2400" dirty="0">
                <a:solidFill>
                  <a:srgbClr val="4F7FB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addi</a:t>
            </a: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HK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s0, 1 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++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// if (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&lt; n)</a:t>
            </a:r>
            <a:r>
              <a:rPr lang="zh-CN" altLang="en-US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HK" sz="2400" dirty="0" err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goto</a:t>
            </a: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loop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HK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blt</a:t>
            </a:r>
            <a:r>
              <a:rPr lang="en-HK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HK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s1, </a:t>
            </a:r>
            <a:r>
              <a:rPr lang="en-HK" sz="24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loop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HK" sz="2400" dirty="0">
                <a:solidFill>
                  <a:srgbClr val="E26B0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done: </a:t>
            </a:r>
            <a:endParaRPr lang="en-HK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endParaRPr lang="en-US" sz="2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49936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 lnSpcReduction="20000"/>
          </a:bodyPr>
          <a:lstStyle/>
          <a:p>
            <a:r>
              <a:rPr lang="en-US" altLang="zh-CN" dirty="0"/>
              <a:t>RISC</a:t>
            </a:r>
            <a:r>
              <a:rPr lang="zh-CN" altLang="en-US" dirty="0"/>
              <a:t>处理器的寄存器分为</a:t>
            </a:r>
            <a:r>
              <a:rPr lang="zh-CN" altLang="en-US" i="1" dirty="0"/>
              <a:t>临时寄存器和存储寄存器 </a:t>
            </a:r>
          </a:p>
          <a:p>
            <a:r>
              <a:rPr lang="zh-CN" altLang="en-US" dirty="0"/>
              <a:t>一般约定</a:t>
            </a:r>
            <a:r>
              <a:rPr lang="en-US" altLang="zh-CN" dirty="0"/>
              <a:t>:</a:t>
            </a:r>
          </a:p>
          <a:p>
            <a:pPr lvl="1"/>
            <a:r>
              <a:rPr lang="zh-CN" altLang="en-US" dirty="0"/>
              <a:t>存储寄存器在函数调用前后，值不会发生变化 </a:t>
            </a:r>
          </a:p>
          <a:p>
            <a:pPr lvl="1"/>
            <a:r>
              <a:rPr lang="zh-CN" altLang="en-US" dirty="0"/>
              <a:t>临时寄存器在函数调用后，有可能值被改变 </a:t>
            </a:r>
          </a:p>
          <a:p>
            <a:r>
              <a:rPr lang="zh-CN" altLang="en-US" dirty="0"/>
              <a:t>因此，为了保证程序的正常执行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函数调用者需要在调用函数前保存自己需要的临时寄存器 </a:t>
            </a: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被调用者需要保证存储寄存器的值在调用前后不发生变化 </a:t>
            </a:r>
          </a:p>
          <a:p>
            <a:r>
              <a:rPr lang="zh-CN" altLang="en-US" dirty="0"/>
              <a:t>方法：将寄存器的值临时保存到栈上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220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函数调用前后的保存与恢复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B9D8B8-7B00-E3D3-4EDA-A64C2526D8AD}"/>
              </a:ext>
            </a:extLst>
          </p:cNvPr>
          <p:cNvSpPr txBox="1">
            <a:spLocks/>
          </p:cNvSpPr>
          <p:nvPr/>
        </p:nvSpPr>
        <p:spPr>
          <a:xfrm>
            <a:off x="628649" y="1690689"/>
            <a:ext cx="7374707" cy="4879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caller: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addi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-12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zh-CN" alt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栈上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预留空间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kumimoji="0" lang="en-HK" sz="1575" b="0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sd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4(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保存子程序调用返回地址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do something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sw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t0, 0(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保存临时寄存器上的数值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 callee</a:t>
            </a:r>
            <a:r>
              <a:rPr kumimoji="0" lang="zh-CN" altLang="en-US" sz="1575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kumimoji="0" lang="en-US" altLang="zh-CN" sz="1575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调用子程序</a:t>
            </a:r>
            <a:r>
              <a:rPr kumimoji="0" lang="en-US" altLang="zh-CN" sz="1575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callee</a:t>
            </a:r>
            <a:r>
              <a:rPr kumimoji="0" lang="zh-CN" altLang="en-US" sz="1575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lw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t0, 0(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恢复临时寄存器上的数值</a:t>
            </a:r>
            <a:endParaRPr kumimoji="0" lang="en-HK" sz="157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callee: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addi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-16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在</a:t>
            </a:r>
            <a:r>
              <a:rPr kumimoji="0" lang="zh-CN" alt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栈上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预留空间 </a:t>
            </a:r>
            <a:endParaRPr kumimoji="0" lang="en-HK" sz="157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sd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0(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保存子程序调用返回地址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sd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8(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保存存储寄存器上的数值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 do something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ld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s0, 8(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恢复存储寄存器上的数值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ld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ra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0(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加载子程序调用返回地址</a:t>
            </a:r>
            <a:b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</a:b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addi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</a:t>
            </a:r>
            <a:r>
              <a:rPr kumimoji="0" lang="en-HK" sz="1575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sp</a:t>
            </a: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, 16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恢复栈指针</a:t>
            </a:r>
            <a:endParaRPr kumimoji="0" lang="en-HK" sz="1575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HK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	ret</a:t>
            </a:r>
            <a:r>
              <a:rPr kumimoji="0" lang="zh-CN" altLang="en-US" sz="1575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13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//</a:t>
            </a: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从子程序返回</a:t>
            </a:r>
            <a:endParaRPr kumimoji="0" lang="en-HK" sz="135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FB5CFDF4-ECF9-E58C-7927-5743B1CBC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413" y="1895152"/>
            <a:ext cx="3209925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183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汇编语言其他注意点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/>
          </a:bodyPr>
          <a:lstStyle/>
          <a:p>
            <a:r>
              <a:rPr lang="zh-CN" altLang="en-US" dirty="0"/>
              <a:t>以</a:t>
            </a:r>
            <a:r>
              <a:rPr lang="en-US" altLang="zh-CN" dirty="0"/>
              <a:t>P1</a:t>
            </a:r>
            <a:r>
              <a:rPr lang="zh-CN" altLang="en-US" dirty="0"/>
              <a:t>的</a:t>
            </a:r>
            <a:r>
              <a:rPr lang="en-US" altLang="zh-CN" dirty="0"/>
              <a:t>start-code</a:t>
            </a:r>
            <a:r>
              <a:rPr lang="zh-CN" altLang="en-US" dirty="0"/>
              <a:t>为例</a:t>
            </a:r>
          </a:p>
          <a:p>
            <a:pPr lvl="1"/>
            <a:r>
              <a:rPr lang="en-US" altLang="zh-CN" i="1" dirty="0"/>
              <a:t>.</a:t>
            </a:r>
            <a:r>
              <a:rPr lang="en-US" altLang="zh-CN" i="1" dirty="0" err="1"/>
              <a:t>equ</a:t>
            </a:r>
            <a:r>
              <a:rPr lang="en-US" altLang="zh-CN" i="1" dirty="0"/>
              <a:t> </a:t>
            </a:r>
            <a:r>
              <a:rPr lang="en-US" altLang="zh-CN" i="1" dirty="0" err="1"/>
              <a:t>os_size_loc</a:t>
            </a:r>
            <a:r>
              <a:rPr lang="en-US" altLang="zh-CN" i="1" dirty="0"/>
              <a:t>, 0x502001fc </a:t>
            </a:r>
          </a:p>
          <a:p>
            <a:pPr lvl="2"/>
            <a:r>
              <a:rPr lang="zh-CN" altLang="en-US" dirty="0"/>
              <a:t>可以使用这样的方式实现常量名，类似</a:t>
            </a:r>
            <a:r>
              <a:rPr lang="en-US" altLang="zh-CN" dirty="0"/>
              <a:t>#define</a:t>
            </a:r>
          </a:p>
          <a:p>
            <a:pPr lvl="1"/>
            <a:r>
              <a:rPr lang="en-US" altLang="zh-CN" i="1" dirty="0"/>
              <a:t>msg: .string “It‘s a bootloader...\n\r” </a:t>
            </a:r>
          </a:p>
          <a:p>
            <a:pPr lvl="2"/>
            <a:r>
              <a:rPr lang="zh-CN" altLang="en-US" dirty="0"/>
              <a:t>这样的方式实现了字符串，常量名为</a:t>
            </a:r>
            <a:r>
              <a:rPr lang="en-US" altLang="zh-CN" dirty="0"/>
              <a:t>msg</a:t>
            </a:r>
          </a:p>
          <a:p>
            <a:pPr lvl="1"/>
            <a:r>
              <a:rPr lang="en-US" altLang="zh-CN" dirty="0"/>
              <a:t>stop:	</a:t>
            </a:r>
          </a:p>
          <a:p>
            <a:pPr marL="914400" lvl="2" indent="0">
              <a:buNone/>
            </a:pPr>
            <a:r>
              <a:rPr lang="en-US" altLang="zh-CN" sz="2000" dirty="0"/>
              <a:t>j stop</a:t>
            </a:r>
          </a:p>
          <a:p>
            <a:pPr marL="914400" lvl="2" indent="0">
              <a:buNone/>
            </a:pPr>
            <a:r>
              <a:rPr lang="en-US" altLang="zh-CN" sz="2000" dirty="0" err="1"/>
              <a:t>nop</a:t>
            </a:r>
            <a:endParaRPr lang="en-US" altLang="zh-CN" sz="2000" dirty="0"/>
          </a:p>
          <a:p>
            <a:pPr marL="914400" lvl="2" indent="0">
              <a:buNone/>
            </a:pPr>
            <a:r>
              <a:rPr lang="zh-CN" altLang="en-US" sz="2000" dirty="0"/>
              <a:t>实现了结尾的死循环，避免程序跑飞，相当于</a:t>
            </a:r>
            <a:r>
              <a:rPr lang="en-US" altLang="zh-CN" sz="2000" dirty="0"/>
              <a:t>while(1)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3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CA480-75CF-8515-407D-F3838A744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B4C20-5091-E31E-8B7C-0107FB837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今日课程内容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E76D7C-2CE7-B701-459A-342DE754E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预备知识 </a:t>
            </a:r>
            <a:r>
              <a:rPr lang="en-US" altLang="zh-CN" dirty="0"/>
              <a:t>&amp; </a:t>
            </a:r>
            <a:r>
              <a:rPr lang="zh-CN" altLang="en-US" dirty="0"/>
              <a:t>课程环境搭建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、虚拟机 </a:t>
            </a:r>
            <a:r>
              <a:rPr lang="en-US" altLang="zh-CN" dirty="0"/>
              <a:t>&amp; git</a:t>
            </a:r>
            <a:r>
              <a:rPr lang="zh-CN" altLang="en-US" dirty="0"/>
              <a:t>环境搭建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汇编介绍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3</a:t>
            </a:r>
            <a:r>
              <a:rPr lang="zh-CN" altLang="en-US" dirty="0">
                <a:solidFill>
                  <a:srgbClr val="C00000"/>
                </a:solidFill>
              </a:rPr>
              <a:t>、</a:t>
            </a:r>
            <a:r>
              <a:rPr lang="en-US" altLang="zh-CN" dirty="0">
                <a:solidFill>
                  <a:srgbClr val="C00000"/>
                </a:solidFill>
              </a:rPr>
              <a:t>QEMU</a:t>
            </a:r>
            <a:r>
              <a:rPr lang="zh-CN" altLang="en-US" dirty="0">
                <a:solidFill>
                  <a:srgbClr val="C00000"/>
                </a:solidFill>
              </a:rPr>
              <a:t>模拟器和</a:t>
            </a:r>
            <a:r>
              <a:rPr lang="en-US" altLang="zh-CN" dirty="0" err="1">
                <a:solidFill>
                  <a:srgbClr val="C00000"/>
                </a:solidFill>
              </a:rPr>
              <a:t>gdb</a:t>
            </a:r>
            <a:r>
              <a:rPr lang="zh-CN" altLang="en-US" dirty="0">
                <a:solidFill>
                  <a:srgbClr val="C00000"/>
                </a:solidFill>
              </a:rPr>
              <a:t>介绍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/>
              <a:t>4</a:t>
            </a:r>
            <a:r>
              <a:rPr lang="zh-CN" altLang="en-US" dirty="0"/>
              <a:t>、预备课作业：</a:t>
            </a:r>
            <a:r>
              <a:rPr lang="en-US" altLang="zh-CN" dirty="0"/>
              <a:t>10</a:t>
            </a:r>
            <a:r>
              <a:rPr lang="zh-CN" altLang="en-US" dirty="0"/>
              <a:t>月</a:t>
            </a:r>
            <a:r>
              <a:rPr lang="en-US" altLang="zh-CN" dirty="0"/>
              <a:t>11</a:t>
            </a:r>
            <a:r>
              <a:rPr lang="zh-CN" altLang="en-US" dirty="0"/>
              <a:t>号课上检查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E7F3326-67BD-4A13-F20B-4E4673C1D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CFC9961-F835-75C6-AC78-CF3C527F0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199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QEMU</a:t>
            </a:r>
            <a:r>
              <a:rPr lang="zh-CN" altLang="en-US" dirty="0"/>
              <a:t>模拟器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/>
          </a:bodyPr>
          <a:lstStyle/>
          <a:p>
            <a:r>
              <a:rPr lang="en-US" altLang="zh-CN" dirty="0"/>
              <a:t>QEMU</a:t>
            </a:r>
            <a:r>
              <a:rPr lang="zh-CN" altLang="en-US" dirty="0"/>
              <a:t>模拟器：通过软件模拟一个硬件平台</a:t>
            </a:r>
          </a:p>
          <a:p>
            <a:pPr lvl="1"/>
            <a:r>
              <a:rPr lang="zh-CN" altLang="en-US" dirty="0"/>
              <a:t>硬件寄存器</a:t>
            </a:r>
            <a:r>
              <a:rPr lang="en-US" altLang="zh-CN" dirty="0"/>
              <a:t>-&gt;</a:t>
            </a:r>
            <a:r>
              <a:rPr lang="zh-CN" altLang="en-US" dirty="0"/>
              <a:t>软件变量，硬件运算</a:t>
            </a:r>
            <a:r>
              <a:rPr lang="en-US" altLang="zh-CN" dirty="0"/>
              <a:t>-&gt;</a:t>
            </a:r>
            <a:r>
              <a:rPr lang="zh-CN" altLang="en-US" dirty="0"/>
              <a:t>软件运算</a:t>
            </a:r>
          </a:p>
          <a:p>
            <a:pPr lvl="1"/>
            <a:r>
              <a:rPr lang="zh-CN" altLang="en-US" dirty="0"/>
              <a:t>将同学们写的操作系统运行在模拟器上，与运行在开发板上功能基本相同</a:t>
            </a:r>
          </a:p>
          <a:p>
            <a:r>
              <a:rPr lang="zh-CN" altLang="en-US" dirty="0"/>
              <a:t>优点：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、硬件平台的输出有限，使用软件模拟加快调试速度</a:t>
            </a:r>
          </a:p>
          <a:p>
            <a:pPr lvl="2"/>
            <a:r>
              <a:rPr lang="zh-CN" altLang="en-US" dirty="0"/>
              <a:t>可以接入</a:t>
            </a:r>
            <a:r>
              <a:rPr lang="en-US" altLang="zh-CN" dirty="0" err="1"/>
              <a:t>gdb</a:t>
            </a:r>
            <a:r>
              <a:rPr lang="zh-CN" altLang="en-US" dirty="0"/>
              <a:t>：单步调试，查看系统状态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、硬件平台无法修改，通过在软件模拟器上修改的方式来做研究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86873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学习使用模拟器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磨刀不误砍柴工</a:t>
            </a:r>
          </a:p>
          <a:p>
            <a:pPr lvl="1"/>
            <a:r>
              <a:rPr lang="zh-CN" altLang="en-US" dirty="0"/>
              <a:t>学习使用</a:t>
            </a:r>
            <a:r>
              <a:rPr lang="en-US" altLang="zh-CN" dirty="0"/>
              <a:t>QEMU</a:t>
            </a:r>
            <a:r>
              <a:rPr lang="zh-CN" altLang="en-US" dirty="0"/>
              <a:t>和</a:t>
            </a:r>
            <a:r>
              <a:rPr lang="en-US" altLang="zh-CN" dirty="0"/>
              <a:t>GDB</a:t>
            </a:r>
            <a:r>
              <a:rPr lang="zh-CN" altLang="en-US" dirty="0"/>
              <a:t>会花一点时间，但是会大大降低解决代码</a:t>
            </a:r>
            <a:r>
              <a:rPr lang="en-US" altLang="zh-CN" dirty="0"/>
              <a:t>bug</a:t>
            </a:r>
            <a:r>
              <a:rPr lang="zh-CN" altLang="en-US" dirty="0"/>
              <a:t>的难度</a:t>
            </a:r>
          </a:p>
          <a:p>
            <a:pPr lvl="1"/>
            <a:r>
              <a:rPr lang="zh-CN" altLang="en-US" dirty="0"/>
              <a:t>先在</a:t>
            </a:r>
            <a:r>
              <a:rPr lang="en-US" altLang="zh-CN" dirty="0"/>
              <a:t>QEMU</a:t>
            </a:r>
            <a:r>
              <a:rPr lang="zh-CN" altLang="en-US" dirty="0"/>
              <a:t>上调试通过，再上板测试</a:t>
            </a:r>
          </a:p>
          <a:p>
            <a:r>
              <a:rPr lang="zh-CN" altLang="en-US" dirty="0"/>
              <a:t>对未来的研究工作有很大帮助</a:t>
            </a:r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、使用模拟器是计算机体系结构研究中的常用工具</a:t>
            </a:r>
          </a:p>
          <a:p>
            <a:pPr lvl="2"/>
            <a:r>
              <a:rPr lang="zh-CN" altLang="en-US" dirty="0"/>
              <a:t>现有硬件平台无法直接修改，硬件流片太贵，</a:t>
            </a:r>
            <a:r>
              <a:rPr lang="en-US" altLang="zh-CN" dirty="0"/>
              <a:t>FPGA</a:t>
            </a:r>
            <a:r>
              <a:rPr lang="zh-CN" altLang="en-US" dirty="0"/>
              <a:t>调试起来也比软件代码要复杂许多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、学习使用</a:t>
            </a:r>
            <a:r>
              <a:rPr lang="en-US" altLang="zh-CN" dirty="0" err="1"/>
              <a:t>gdb</a:t>
            </a:r>
            <a:r>
              <a:rPr lang="zh-CN" altLang="en-US" dirty="0"/>
              <a:t>：</a:t>
            </a:r>
            <a:r>
              <a:rPr lang="en-US" altLang="zh-CN" dirty="0"/>
              <a:t>Linux</a:t>
            </a:r>
            <a:r>
              <a:rPr lang="zh-CN" altLang="en-US" dirty="0"/>
              <a:t>环境下的调试利器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20948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QEMU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/>
          </a:bodyPr>
          <a:lstStyle/>
          <a:p>
            <a:r>
              <a:rPr lang="zh-CN" altLang="en-US" dirty="0"/>
              <a:t>启动</a:t>
            </a:r>
            <a:r>
              <a:rPr lang="en-US" altLang="zh-CN" dirty="0"/>
              <a:t>QEMU</a:t>
            </a:r>
            <a:r>
              <a:rPr lang="zh-CN" altLang="en-US" dirty="0"/>
              <a:t>模拟器</a:t>
            </a:r>
          </a:p>
          <a:p>
            <a:pPr lvl="1"/>
            <a:r>
              <a:rPr lang="zh-CN" altLang="en-US" dirty="0"/>
              <a:t>使用提供的启动脚本</a:t>
            </a:r>
          </a:p>
          <a:p>
            <a:r>
              <a:rPr lang="en-US" altLang="zh-CN" dirty="0"/>
              <a:t>QEMU</a:t>
            </a:r>
            <a:r>
              <a:rPr lang="zh-CN" altLang="en-US" dirty="0"/>
              <a:t>启动脚本路径：</a:t>
            </a:r>
          </a:p>
          <a:p>
            <a:pPr lvl="1"/>
            <a:r>
              <a:rPr lang="zh-CN" altLang="en-US" dirty="0"/>
              <a:t>后续代码框架中会包含</a:t>
            </a:r>
            <a:r>
              <a:rPr lang="en-US" altLang="zh-CN" dirty="0" err="1"/>
              <a:t>Makefile</a:t>
            </a:r>
            <a:r>
              <a:rPr lang="zh-CN" altLang="en-US" dirty="0"/>
              <a:t>，在该文件所在路径下</a:t>
            </a:r>
            <a:r>
              <a:rPr lang="en-US" altLang="zh-CN" dirty="0"/>
              <a:t>make run</a:t>
            </a:r>
            <a:r>
              <a:rPr lang="zh-CN" altLang="en-US" dirty="0"/>
              <a:t>命令运行</a:t>
            </a:r>
          </a:p>
          <a:p>
            <a:r>
              <a:rPr lang="en-US" altLang="zh-CN" dirty="0"/>
              <a:t>QEMU</a:t>
            </a:r>
            <a:r>
              <a:rPr lang="zh-CN" altLang="en-US" dirty="0"/>
              <a:t>退出：</a:t>
            </a:r>
          </a:p>
          <a:p>
            <a:pPr lvl="1"/>
            <a:r>
              <a:rPr lang="en-US" altLang="zh-CN" dirty="0" err="1"/>
              <a:t>Ctrl+a</a:t>
            </a:r>
            <a:r>
              <a:rPr lang="en-US" altLang="zh-CN" dirty="0"/>
              <a:t> x</a:t>
            </a:r>
            <a:r>
              <a:rPr lang="zh-CN" altLang="en-US" dirty="0"/>
              <a:t>退出（先按</a:t>
            </a:r>
            <a:r>
              <a:rPr lang="en-US" altLang="zh-CN" dirty="0" err="1"/>
              <a:t>ctrl+a</a:t>
            </a:r>
            <a:r>
              <a:rPr lang="zh-CN" altLang="en-US" dirty="0"/>
              <a:t>，然后按</a:t>
            </a:r>
            <a:r>
              <a:rPr lang="en-US" altLang="zh-CN" dirty="0"/>
              <a:t>x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或者</a:t>
            </a:r>
            <a:r>
              <a:rPr lang="en-US" altLang="zh-CN" dirty="0" err="1"/>
              <a:t>Ctrl+a</a:t>
            </a:r>
            <a:r>
              <a:rPr lang="en-US" altLang="zh-CN" dirty="0"/>
              <a:t> c</a:t>
            </a:r>
            <a:r>
              <a:rPr lang="zh-CN" altLang="en-US" dirty="0"/>
              <a:t>呼出</a:t>
            </a:r>
            <a:r>
              <a:rPr lang="en-US" altLang="zh-CN" dirty="0"/>
              <a:t>QEMU</a:t>
            </a:r>
            <a:r>
              <a:rPr lang="zh-CN" altLang="en-US" dirty="0"/>
              <a:t>命令行，用</a:t>
            </a:r>
            <a:r>
              <a:rPr lang="en-US" altLang="zh-CN" dirty="0"/>
              <a:t>quit</a:t>
            </a:r>
            <a:r>
              <a:rPr lang="zh-CN" altLang="en-US" dirty="0"/>
              <a:t>命令</a:t>
            </a:r>
          </a:p>
          <a:p>
            <a:pPr lvl="1"/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468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gdb</a:t>
            </a:r>
            <a:r>
              <a:rPr lang="zh-CN" altLang="en-US" dirty="0"/>
              <a:t>连接</a:t>
            </a:r>
            <a:r>
              <a:rPr lang="en-US" altLang="zh-CN" dirty="0"/>
              <a:t>QEMU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/>
          </a:bodyPr>
          <a:lstStyle/>
          <a:p>
            <a:r>
              <a:rPr lang="zh-CN" altLang="en-US" dirty="0"/>
              <a:t>启动</a:t>
            </a:r>
            <a:r>
              <a:rPr lang="en-US" altLang="zh-CN" dirty="0" err="1"/>
              <a:t>gdb</a:t>
            </a:r>
            <a:r>
              <a:rPr lang="zh-CN" altLang="en-US" dirty="0"/>
              <a:t>，连接</a:t>
            </a:r>
            <a:r>
              <a:rPr lang="en-US" altLang="zh-CN" dirty="0"/>
              <a:t>QEMU</a:t>
            </a:r>
            <a:endParaRPr lang="zh-CN" altLang="en-US" dirty="0"/>
          </a:p>
          <a:p>
            <a:pPr lvl="1"/>
            <a:r>
              <a:rPr lang="en-US" altLang="zh-CN" dirty="0" err="1"/>
              <a:t>Makefile</a:t>
            </a:r>
            <a:r>
              <a:rPr lang="zh-CN" altLang="en-US" dirty="0"/>
              <a:t>所在路径，</a:t>
            </a:r>
            <a:r>
              <a:rPr lang="en-US" altLang="zh-CN" dirty="0"/>
              <a:t>make debug</a:t>
            </a:r>
            <a:r>
              <a:rPr lang="zh-CN" altLang="en-US" dirty="0"/>
              <a:t>运行</a:t>
            </a:r>
            <a:r>
              <a:rPr lang="en-US" altLang="zh-CN" dirty="0"/>
              <a:t>QEMU</a:t>
            </a:r>
            <a:r>
              <a:rPr lang="zh-CN" altLang="en-US" dirty="0"/>
              <a:t>，另外一个窗口</a:t>
            </a:r>
            <a:r>
              <a:rPr lang="en-US" altLang="zh-CN" dirty="0"/>
              <a:t>make </a:t>
            </a:r>
            <a:r>
              <a:rPr lang="en-US" altLang="zh-CN" dirty="0" err="1"/>
              <a:t>gdb</a:t>
            </a:r>
            <a:r>
              <a:rPr lang="zh-CN" altLang="en-US" dirty="0"/>
              <a:t>启动</a:t>
            </a:r>
            <a:r>
              <a:rPr lang="en-US" altLang="zh-CN" dirty="0" err="1"/>
              <a:t>gdb</a:t>
            </a:r>
            <a:endParaRPr lang="en-US" altLang="zh-CN" dirty="0"/>
          </a:p>
          <a:p>
            <a:r>
              <a:rPr lang="zh-CN" altLang="en-US" dirty="0"/>
              <a:t>不连接</a:t>
            </a:r>
            <a:r>
              <a:rPr lang="en-US" altLang="zh-CN" dirty="0" err="1"/>
              <a:t>gdb</a:t>
            </a:r>
            <a:r>
              <a:rPr lang="zh-CN" altLang="en-US" dirty="0"/>
              <a:t>的话用</a:t>
            </a:r>
            <a:r>
              <a:rPr lang="en-US" altLang="zh-CN" dirty="0"/>
              <a:t>make run</a:t>
            </a:r>
            <a:r>
              <a:rPr lang="zh-CN" altLang="en-US" dirty="0"/>
              <a:t>即可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3598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调试技巧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在</a:t>
            </a:r>
            <a:r>
              <a:rPr lang="en-US" altLang="zh-CN" dirty="0" err="1"/>
              <a:t>gdb</a:t>
            </a:r>
            <a:r>
              <a:rPr lang="zh-CN" altLang="en-US" dirty="0"/>
              <a:t>界面中可以使用以下命令：</a:t>
            </a:r>
          </a:p>
          <a:p>
            <a:pPr lvl="1"/>
            <a:r>
              <a:rPr lang="zh-CN" altLang="en-US" dirty="0"/>
              <a:t>设置断点：</a:t>
            </a:r>
            <a:r>
              <a:rPr lang="en-US" altLang="zh-CN" dirty="0"/>
              <a:t>b</a:t>
            </a:r>
            <a:r>
              <a:rPr lang="zh-CN" altLang="en-US" dirty="0"/>
              <a:t>，后面跟上内存地址或代码中的行数，例：</a:t>
            </a:r>
            <a:r>
              <a:rPr lang="en-US" altLang="zh-CN" dirty="0"/>
              <a:t>b *0xa0800000</a:t>
            </a:r>
          </a:p>
          <a:p>
            <a:pPr lvl="1"/>
            <a:r>
              <a:rPr lang="zh-CN" altLang="en-US" dirty="0"/>
              <a:t>继续运行：</a:t>
            </a:r>
            <a:r>
              <a:rPr lang="en-US" altLang="zh-CN" dirty="0"/>
              <a:t>c</a:t>
            </a:r>
          </a:p>
          <a:p>
            <a:pPr lvl="1"/>
            <a:r>
              <a:rPr lang="zh-CN" altLang="en-US" dirty="0"/>
              <a:t>单步运行（单条汇编指令）：</a:t>
            </a:r>
            <a:r>
              <a:rPr lang="en-US" altLang="zh-CN" dirty="0" err="1"/>
              <a:t>si</a:t>
            </a:r>
            <a:endParaRPr lang="en-US" altLang="zh-CN" dirty="0"/>
          </a:p>
          <a:p>
            <a:pPr lvl="1"/>
            <a:r>
              <a:rPr lang="zh-CN" altLang="en-US" dirty="0"/>
              <a:t>查看当前寄存器内容：</a:t>
            </a:r>
            <a:r>
              <a:rPr lang="en-US" altLang="zh-CN" dirty="0" err="1"/>
              <a:t>i</a:t>
            </a:r>
            <a:r>
              <a:rPr lang="en-US" altLang="zh-CN" dirty="0"/>
              <a:t> r</a:t>
            </a:r>
          </a:p>
          <a:p>
            <a:pPr lvl="1"/>
            <a:r>
              <a:rPr lang="zh-CN" altLang="en-US" dirty="0"/>
              <a:t>查看内存内容：</a:t>
            </a:r>
            <a:r>
              <a:rPr lang="en-US" altLang="zh-CN" dirty="0"/>
              <a:t>x</a:t>
            </a:r>
            <a:r>
              <a:rPr lang="zh-CN" altLang="en-US" dirty="0"/>
              <a:t>，命令格式：</a:t>
            </a:r>
            <a:r>
              <a:rPr lang="en-US" altLang="zh-CN" dirty="0"/>
              <a:t>x/</a:t>
            </a:r>
            <a:r>
              <a:rPr lang="en-US" altLang="zh-CN" dirty="0" err="1"/>
              <a:t>nfu</a:t>
            </a:r>
            <a:r>
              <a:rPr lang="en-US" altLang="zh-CN" dirty="0"/>
              <a:t> [</a:t>
            </a:r>
            <a:r>
              <a:rPr lang="en-US" altLang="zh-CN" dirty="0" err="1"/>
              <a:t>addr</a:t>
            </a:r>
            <a:r>
              <a:rPr lang="en-US" altLang="zh-CN" dirty="0"/>
              <a:t>]</a:t>
            </a:r>
          </a:p>
          <a:p>
            <a:pPr lvl="1"/>
            <a:r>
              <a:rPr lang="en-US" altLang="zh-CN" dirty="0"/>
              <a:t>n</a:t>
            </a:r>
            <a:r>
              <a:rPr lang="zh-CN" altLang="en-US" dirty="0"/>
              <a:t>是内存单元个数，</a:t>
            </a:r>
            <a:r>
              <a:rPr lang="en-US" altLang="zh-CN" dirty="0"/>
              <a:t>f</a:t>
            </a:r>
            <a:r>
              <a:rPr lang="zh-CN" altLang="en-US" dirty="0"/>
              <a:t>是显示格式，</a:t>
            </a:r>
            <a:r>
              <a:rPr lang="en-US" altLang="zh-CN" dirty="0"/>
              <a:t>u</a:t>
            </a:r>
            <a:r>
              <a:rPr lang="zh-CN" altLang="en-US" dirty="0"/>
              <a:t>是内存单元大小</a:t>
            </a:r>
          </a:p>
          <a:p>
            <a:pPr lvl="1"/>
            <a:r>
              <a:rPr lang="zh-CN" altLang="en-US" dirty="0"/>
              <a:t>显示指定地址之后的</a:t>
            </a:r>
            <a:r>
              <a:rPr lang="en-US" altLang="zh-CN" dirty="0"/>
              <a:t>10</a:t>
            </a:r>
            <a:r>
              <a:rPr lang="zh-CN" altLang="en-US" dirty="0"/>
              <a:t>条汇编指令：</a:t>
            </a:r>
            <a:r>
              <a:rPr lang="en-US" altLang="zh-CN" dirty="0"/>
              <a:t>x/10i </a:t>
            </a:r>
            <a:r>
              <a:rPr lang="en-US" altLang="zh-CN" dirty="0" err="1"/>
              <a:t>addr</a:t>
            </a:r>
            <a:endParaRPr lang="en-US" altLang="zh-CN" dirty="0"/>
          </a:p>
          <a:p>
            <a:pPr lvl="1"/>
            <a:r>
              <a:rPr lang="zh-CN" altLang="en-US" dirty="0"/>
              <a:t>显示指定地址之后的</a:t>
            </a:r>
            <a:r>
              <a:rPr lang="en-US" altLang="zh-CN" dirty="0"/>
              <a:t>10</a:t>
            </a:r>
            <a:r>
              <a:rPr lang="zh-CN" altLang="en-US" dirty="0"/>
              <a:t>条数据单元：</a:t>
            </a:r>
            <a:r>
              <a:rPr lang="en-US" altLang="zh-CN" dirty="0"/>
              <a:t>x/10x </a:t>
            </a:r>
            <a:r>
              <a:rPr lang="en-US" altLang="zh-CN" dirty="0" err="1"/>
              <a:t>addr</a:t>
            </a:r>
            <a:endParaRPr lang="en-US" altLang="zh-CN" dirty="0"/>
          </a:p>
          <a:p>
            <a:pPr lvl="1"/>
            <a:r>
              <a:rPr lang="zh-CN" altLang="en-US" dirty="0"/>
              <a:t>退出：</a:t>
            </a:r>
            <a:r>
              <a:rPr lang="en-US" altLang="zh-CN" dirty="0"/>
              <a:t>q</a:t>
            </a:r>
          </a:p>
          <a:p>
            <a:r>
              <a:rPr lang="zh-CN" altLang="en-US" dirty="0"/>
              <a:t>以上只是基础</a:t>
            </a:r>
            <a:r>
              <a:rPr lang="en-US" altLang="zh-CN" dirty="0" err="1"/>
              <a:t>gdb</a:t>
            </a:r>
            <a:r>
              <a:rPr lang="zh-CN" altLang="en-US" dirty="0"/>
              <a:t>命令，大家可以探索更多命令以及组合的方式</a:t>
            </a:r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280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Printl</a:t>
            </a:r>
            <a:r>
              <a:rPr lang="zh-CN" altLang="en-US" dirty="0"/>
              <a:t>工具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fontScale="92500"/>
          </a:bodyPr>
          <a:lstStyle/>
          <a:p>
            <a:r>
              <a:rPr lang="en-US" altLang="zh-CN" dirty="0" err="1"/>
              <a:t>Printl</a:t>
            </a:r>
            <a:r>
              <a:rPr lang="zh-CN" altLang="en-US" dirty="0"/>
              <a:t>：本课程开发的打印工具</a:t>
            </a:r>
            <a:endParaRPr lang="en-US" altLang="zh-CN" dirty="0"/>
          </a:p>
          <a:p>
            <a:pPr lvl="1"/>
            <a:r>
              <a:rPr lang="zh-CN" altLang="en-US" dirty="0"/>
              <a:t>与</a:t>
            </a:r>
            <a:r>
              <a:rPr lang="en-US" altLang="zh-CN" dirty="0" err="1"/>
              <a:t>printf</a:t>
            </a:r>
            <a:r>
              <a:rPr lang="zh-CN" altLang="en-US" dirty="0"/>
              <a:t>类似，在代码中插入后，可以把输出内容打印到</a:t>
            </a:r>
            <a:r>
              <a:rPr lang="en-US" altLang="zh-CN" dirty="0"/>
              <a:t>log</a:t>
            </a:r>
            <a:r>
              <a:rPr lang="zh-CN" altLang="en-US" dirty="0"/>
              <a:t>文件中，而不会输出到屏幕</a:t>
            </a:r>
          </a:p>
          <a:p>
            <a:pPr lvl="1"/>
            <a:r>
              <a:rPr lang="zh-CN" altLang="en-US" dirty="0"/>
              <a:t>某些调试信息太多，在屏幕上看不清楚，在文件里面比较方便查看</a:t>
            </a:r>
          </a:p>
          <a:p>
            <a:pPr lvl="2"/>
            <a:r>
              <a:rPr lang="zh-CN" altLang="en-US" dirty="0"/>
              <a:t>例如，在一个多次循环的代码中，每次循环输出某些状态，并查看数值变化是否符合预期</a:t>
            </a:r>
          </a:p>
          <a:p>
            <a:r>
              <a:rPr lang="zh-CN" altLang="en-US" dirty="0"/>
              <a:t>开发板上也支持</a:t>
            </a:r>
            <a:r>
              <a:rPr lang="en-US" altLang="zh-CN" dirty="0" err="1"/>
              <a:t>printl</a:t>
            </a:r>
            <a:r>
              <a:rPr lang="zh-CN" altLang="en-US" dirty="0"/>
              <a:t>功能，作为开发板上的一种辅助调试手段</a:t>
            </a:r>
          </a:p>
          <a:p>
            <a:pPr lvl="1"/>
            <a:r>
              <a:rPr lang="zh-CN" altLang="en-US" dirty="0"/>
              <a:t>帮助解决个别开发板与</a:t>
            </a:r>
            <a:r>
              <a:rPr lang="en-US" altLang="zh-CN" dirty="0"/>
              <a:t>QEMU</a:t>
            </a:r>
            <a:r>
              <a:rPr lang="zh-CN" altLang="en-US" dirty="0"/>
              <a:t>现象不一致的情况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023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课程作业检查标准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/>
          </a:bodyPr>
          <a:lstStyle/>
          <a:p>
            <a:r>
              <a:rPr lang="zh-CN" altLang="en-US" dirty="0"/>
              <a:t>强调：每次</a:t>
            </a:r>
            <a:r>
              <a:rPr lang="en-US" altLang="zh-CN" dirty="0"/>
              <a:t>project</a:t>
            </a:r>
            <a:r>
              <a:rPr lang="zh-CN" altLang="en-US" dirty="0"/>
              <a:t>的完成代码都必须现场给助教老师在</a:t>
            </a:r>
            <a:r>
              <a:rPr lang="zh-CN" altLang="en-US" u="sng" dirty="0">
                <a:solidFill>
                  <a:srgbClr val="C00000"/>
                </a:solidFill>
              </a:rPr>
              <a:t>开发板</a:t>
            </a:r>
            <a:r>
              <a:rPr lang="zh-CN" altLang="en-US" dirty="0"/>
              <a:t>上运行通过，且上传到</a:t>
            </a:r>
            <a:r>
              <a:rPr lang="en-US" altLang="zh-CN" dirty="0" err="1"/>
              <a:t>gitee</a:t>
            </a:r>
            <a:r>
              <a:rPr lang="zh-CN" altLang="en-US" dirty="0"/>
              <a:t>上</a:t>
            </a:r>
          </a:p>
          <a:p>
            <a:pPr lvl="1"/>
            <a:r>
              <a:rPr lang="zh-CN" altLang="en-US" dirty="0"/>
              <a:t>后续会发放开发板</a:t>
            </a:r>
          </a:p>
          <a:p>
            <a:r>
              <a:rPr lang="zh-CN" altLang="en-US" dirty="0"/>
              <a:t>不能只在</a:t>
            </a:r>
            <a:r>
              <a:rPr lang="en-US" altLang="zh-CN" dirty="0"/>
              <a:t>QEMU</a:t>
            </a:r>
            <a:r>
              <a:rPr lang="zh-CN" altLang="en-US" dirty="0"/>
              <a:t>模拟器完成</a:t>
            </a:r>
          </a:p>
          <a:p>
            <a:endParaRPr lang="en-US" altLang="zh-CN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962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A577C-BCDA-AC70-8E79-47EFFF63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0BDD89-FC50-8874-3CC9-E811C198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今日课程内容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7FD391-5962-3A3A-BB42-C50D5E654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预备知识 </a:t>
            </a:r>
            <a:r>
              <a:rPr lang="en-US" altLang="zh-CN" dirty="0"/>
              <a:t>&amp; </a:t>
            </a:r>
            <a:r>
              <a:rPr lang="zh-CN" altLang="en-US" dirty="0"/>
              <a:t>课程环境搭建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、虚拟机 </a:t>
            </a:r>
            <a:r>
              <a:rPr lang="en-US" altLang="zh-CN" dirty="0"/>
              <a:t>&amp; git</a:t>
            </a:r>
            <a:r>
              <a:rPr lang="zh-CN" altLang="en-US" dirty="0"/>
              <a:t>环境搭建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</a:t>
            </a:r>
            <a:r>
              <a:rPr lang="en-US" altLang="zh-CN" dirty="0"/>
              <a:t>RISC-V</a:t>
            </a:r>
            <a:r>
              <a:rPr lang="zh-CN" altLang="en-US" dirty="0"/>
              <a:t>汇编介绍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</a:t>
            </a:r>
            <a:r>
              <a:rPr lang="en-US" altLang="zh-CN" dirty="0"/>
              <a:t>QEMU</a:t>
            </a:r>
            <a:r>
              <a:rPr lang="zh-CN" altLang="en-US" dirty="0"/>
              <a:t>模拟器和</a:t>
            </a:r>
            <a:r>
              <a:rPr lang="en-US" altLang="zh-CN" dirty="0" err="1"/>
              <a:t>gdb</a:t>
            </a:r>
            <a:r>
              <a:rPr lang="zh-CN" altLang="en-US" dirty="0"/>
              <a:t>介绍</a:t>
            </a:r>
            <a:endParaRPr lang="en-US" altLang="zh-CN" dirty="0"/>
          </a:p>
          <a:p>
            <a:r>
              <a:rPr lang="en-US" altLang="zh-CN" dirty="0">
                <a:solidFill>
                  <a:srgbClr val="C00000"/>
                </a:solidFill>
              </a:rPr>
              <a:t>4</a:t>
            </a:r>
            <a:r>
              <a:rPr lang="zh-CN" altLang="en-US" dirty="0">
                <a:solidFill>
                  <a:srgbClr val="C00000"/>
                </a:solidFill>
              </a:rPr>
              <a:t>、预备课作业：</a:t>
            </a:r>
            <a:r>
              <a:rPr lang="en-US" altLang="zh-CN" dirty="0">
                <a:solidFill>
                  <a:srgbClr val="C00000"/>
                </a:solidFill>
              </a:rPr>
              <a:t>10</a:t>
            </a:r>
            <a:r>
              <a:rPr lang="zh-CN" altLang="en-US" dirty="0">
                <a:solidFill>
                  <a:srgbClr val="C00000"/>
                </a:solidFill>
              </a:rPr>
              <a:t>月</a:t>
            </a:r>
            <a:r>
              <a:rPr lang="en-US" altLang="zh-CN" dirty="0">
                <a:solidFill>
                  <a:srgbClr val="C00000"/>
                </a:solidFill>
              </a:rPr>
              <a:t>11</a:t>
            </a:r>
            <a:r>
              <a:rPr lang="zh-CN" altLang="en-US" dirty="0">
                <a:solidFill>
                  <a:srgbClr val="C00000"/>
                </a:solidFill>
              </a:rPr>
              <a:t>号课上检查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40C626A-2DB2-227F-4284-68BFFBA64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6DA394F-9C2B-EB59-D55D-4436A9324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698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预备课作业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 lnSpcReduction="10000"/>
          </a:bodyPr>
          <a:lstStyle/>
          <a:p>
            <a:r>
              <a:rPr lang="en-US" altLang="zh-CN" sz="2800" dirty="0"/>
              <a:t>1</a:t>
            </a:r>
            <a:r>
              <a:rPr lang="zh-CN" altLang="en-US" sz="2800" dirty="0"/>
              <a:t>、用</a:t>
            </a:r>
            <a:r>
              <a:rPr lang="en-US" altLang="zh-CN" sz="2800" dirty="0"/>
              <a:t>RISC-V</a:t>
            </a:r>
            <a:r>
              <a:rPr lang="zh-CN" altLang="en-US" sz="2800" dirty="0"/>
              <a:t>汇编编写两个测试程序：</a:t>
            </a:r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1</a:t>
            </a:r>
            <a:r>
              <a:rPr lang="zh-CN" altLang="en-US" sz="2400" dirty="0"/>
              <a:t>）</a:t>
            </a:r>
            <a:r>
              <a:rPr lang="en-US" altLang="zh-CN" sz="2400" dirty="0"/>
              <a:t>1</a:t>
            </a:r>
            <a:r>
              <a:rPr lang="zh-CN" altLang="en-US" sz="2400" dirty="0"/>
              <a:t>到</a:t>
            </a:r>
            <a:r>
              <a:rPr lang="en-US" altLang="zh-CN" sz="2400" dirty="0"/>
              <a:t>50</a:t>
            </a:r>
            <a:r>
              <a:rPr lang="zh-CN" altLang="en-US" sz="2400" dirty="0"/>
              <a:t>的叠加，叠加的结果放到指定的内存地址上（实现时使用常量宏存这个地址，通过</a:t>
            </a:r>
            <a:r>
              <a:rPr lang="en-US" altLang="zh-CN" sz="2400" dirty="0"/>
              <a:t>la</a:t>
            </a:r>
            <a:r>
              <a:rPr lang="zh-CN" altLang="en-US" sz="2400" dirty="0"/>
              <a:t>指令把叠加结果写到这个地址上）</a:t>
            </a:r>
          </a:p>
          <a:p>
            <a:pPr lvl="1"/>
            <a:r>
              <a:rPr lang="zh-CN" altLang="en-US" sz="2400" dirty="0"/>
              <a:t>（</a:t>
            </a:r>
            <a:r>
              <a:rPr lang="en-US" altLang="zh-CN" sz="2400" dirty="0"/>
              <a:t>2</a:t>
            </a:r>
            <a:r>
              <a:rPr lang="zh-CN" altLang="en-US" sz="2400" dirty="0"/>
              <a:t>）判断</a:t>
            </a:r>
            <a:r>
              <a:rPr lang="en-US" altLang="zh-CN" sz="2400" dirty="0"/>
              <a:t>1</a:t>
            </a:r>
            <a:r>
              <a:rPr lang="zh-CN" altLang="en-US" sz="2400" dirty="0"/>
              <a:t>到</a:t>
            </a:r>
            <a:r>
              <a:rPr lang="en-US" altLang="zh-CN" sz="2400" dirty="0"/>
              <a:t>200</a:t>
            </a:r>
            <a:r>
              <a:rPr lang="zh-CN" altLang="en-US" sz="2400" dirty="0"/>
              <a:t>的每个数字是否为质数，要求用函数调用实现，函数参数为数字，返回值为是否是质数。</a:t>
            </a:r>
          </a:p>
          <a:p>
            <a:pPr lvl="1"/>
            <a:r>
              <a:rPr lang="zh-CN" altLang="en-US" sz="2400" dirty="0"/>
              <a:t>这两个测试写完后用</a:t>
            </a:r>
            <a:r>
              <a:rPr lang="en-US" altLang="zh-CN" sz="2400" dirty="0"/>
              <a:t>make</a:t>
            </a:r>
            <a:r>
              <a:rPr lang="zh-CN" altLang="en-US" sz="2400" dirty="0"/>
              <a:t>命令编译（需要按现有提供的</a:t>
            </a:r>
            <a:r>
              <a:rPr lang="en-US" altLang="zh-CN" sz="2400" dirty="0" err="1"/>
              <a:t>Makefile</a:t>
            </a:r>
            <a:r>
              <a:rPr lang="zh-CN" altLang="en-US" sz="2400" dirty="0"/>
              <a:t>脚本填写源代码文件路径，测试程序的名字改为同学自己的名字）</a:t>
            </a:r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、在</a:t>
            </a:r>
            <a:r>
              <a:rPr lang="en-US" altLang="zh-CN" sz="2800" dirty="0"/>
              <a:t>Linux</a:t>
            </a:r>
            <a:r>
              <a:rPr lang="zh-CN" altLang="en-US" sz="2800" dirty="0"/>
              <a:t>命令行用</a:t>
            </a:r>
            <a:r>
              <a:rPr lang="en-US" altLang="zh-CN" sz="2800" dirty="0"/>
              <a:t>riscv64***</a:t>
            </a:r>
            <a:r>
              <a:rPr lang="en-US" altLang="zh-CN" sz="2800" dirty="0" err="1"/>
              <a:t>objdump</a:t>
            </a:r>
            <a:r>
              <a:rPr lang="zh-CN" altLang="en-US" sz="2800" dirty="0"/>
              <a:t>命令打印反汇编结果，用</a:t>
            </a:r>
            <a:r>
              <a:rPr lang="en-US" altLang="zh-CN" sz="2800" dirty="0"/>
              <a:t>cat</a:t>
            </a:r>
            <a:r>
              <a:rPr lang="zh-CN" altLang="en-US" sz="2800" dirty="0"/>
              <a:t>命令打印源代码内容，用</a:t>
            </a:r>
            <a:r>
              <a:rPr lang="en-US" altLang="zh-CN" sz="2800" dirty="0"/>
              <a:t>ls</a:t>
            </a:r>
            <a:r>
              <a:rPr lang="zh-CN" altLang="en-US" sz="2800" dirty="0"/>
              <a:t>命令列出文件夹内容</a:t>
            </a:r>
          </a:p>
          <a:p>
            <a:endParaRPr lang="en-US" altLang="zh-CN" sz="28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651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预备课作业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198"/>
            <a:ext cx="8229600" cy="4756152"/>
          </a:xfrm>
        </p:spPr>
        <p:txBody>
          <a:bodyPr>
            <a:normAutofit/>
          </a:bodyPr>
          <a:lstStyle/>
          <a:p>
            <a:r>
              <a:rPr lang="en-US" altLang="zh-CN" sz="2800" dirty="0"/>
              <a:t>3</a:t>
            </a:r>
            <a:r>
              <a:rPr lang="zh-CN" altLang="en-US" sz="2800" dirty="0"/>
              <a:t>、用</a:t>
            </a:r>
            <a:r>
              <a:rPr lang="en-US" altLang="zh-CN" sz="2800" dirty="0"/>
              <a:t>QEMU</a:t>
            </a:r>
            <a:r>
              <a:rPr lang="zh-CN" altLang="en-US" sz="2800" dirty="0"/>
              <a:t>模拟器运行并用</a:t>
            </a:r>
            <a:r>
              <a:rPr lang="en-US" altLang="zh-CN" sz="2800" dirty="0" err="1"/>
              <a:t>gdb</a:t>
            </a:r>
            <a:r>
              <a:rPr lang="zh-CN" altLang="en-US" sz="2800" dirty="0"/>
              <a:t>连接</a:t>
            </a:r>
            <a:r>
              <a:rPr lang="en-US" altLang="zh-CN" sz="2800" dirty="0"/>
              <a:t>QEMU</a:t>
            </a:r>
            <a:r>
              <a:rPr lang="zh-CN" altLang="en-US" sz="2800" dirty="0"/>
              <a:t>运行，打印运行结果的内存或寄存器状态</a:t>
            </a:r>
          </a:p>
          <a:p>
            <a:r>
              <a:rPr lang="en-US" altLang="zh-CN" sz="2800" dirty="0"/>
              <a:t>4</a:t>
            </a:r>
            <a:r>
              <a:rPr lang="zh-CN" altLang="en-US" sz="2800" dirty="0"/>
              <a:t>、将源代码（包括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）上传至</a:t>
            </a:r>
            <a:r>
              <a:rPr lang="en-US" altLang="zh-CN" sz="2800" dirty="0" err="1"/>
              <a:t>gitlab</a:t>
            </a:r>
            <a:r>
              <a:rPr lang="zh-CN" altLang="en-US" sz="2800" dirty="0"/>
              <a:t>，两个作业题目放在不同的</a:t>
            </a:r>
            <a:r>
              <a:rPr lang="en-US" altLang="zh-CN" sz="2800" dirty="0"/>
              <a:t>git</a:t>
            </a:r>
            <a:r>
              <a:rPr lang="zh-CN" altLang="en-US" sz="2800" dirty="0"/>
              <a:t>分支上（使用</a:t>
            </a:r>
            <a:r>
              <a:rPr lang="en-US" altLang="zh-CN" sz="2800" dirty="0"/>
              <a:t>git checkout</a:t>
            </a:r>
            <a:r>
              <a:rPr lang="zh-CN" altLang="en-US" sz="2800" dirty="0"/>
              <a:t>命令切换）</a:t>
            </a:r>
          </a:p>
          <a:p>
            <a:r>
              <a:rPr lang="zh-CN" altLang="en-US" sz="2800" dirty="0"/>
              <a:t>上述作业的基础代码即</a:t>
            </a:r>
            <a:r>
              <a:rPr lang="en-US" altLang="zh-CN" sz="2800" dirty="0"/>
              <a:t>P0</a:t>
            </a:r>
            <a:r>
              <a:rPr lang="zh-CN" altLang="en-US" sz="2800" dirty="0"/>
              <a:t>的</a:t>
            </a:r>
            <a:r>
              <a:rPr lang="en-US" altLang="zh-CN" sz="2800" dirty="0"/>
              <a:t>start-code</a:t>
            </a:r>
            <a:r>
              <a:rPr lang="zh-CN" altLang="en-US" sz="2800" dirty="0"/>
              <a:t>，包含一个空的</a:t>
            </a:r>
            <a:r>
              <a:rPr lang="en-US" altLang="zh-CN" sz="2800" dirty="0" err="1"/>
              <a:t>test.S</a:t>
            </a:r>
            <a:r>
              <a:rPr lang="zh-CN" altLang="en-US" sz="2800" dirty="0"/>
              <a:t>和写好的</a:t>
            </a:r>
            <a:r>
              <a:rPr lang="en-US" altLang="zh-CN" sz="2800" dirty="0" err="1"/>
              <a:t>makefile</a:t>
            </a:r>
            <a:r>
              <a:rPr lang="zh-CN" altLang="en-US" sz="2800" dirty="0"/>
              <a:t>文件，请同学们在其基础上完成。</a:t>
            </a:r>
          </a:p>
          <a:p>
            <a:r>
              <a:rPr lang="zh-CN" altLang="en-US" sz="2800" dirty="0"/>
              <a:t>在</a:t>
            </a:r>
            <a:r>
              <a:rPr lang="en-US" altLang="zh-CN" sz="2800" dirty="0"/>
              <a:t>10</a:t>
            </a:r>
            <a:r>
              <a:rPr lang="zh-CN" altLang="en-US" sz="2800" dirty="0"/>
              <a:t>月</a:t>
            </a:r>
            <a:r>
              <a:rPr lang="en-US" altLang="zh-CN" sz="2800" dirty="0"/>
              <a:t>11</a:t>
            </a:r>
            <a:r>
              <a:rPr lang="zh-CN" altLang="en-US" sz="2800" dirty="0"/>
              <a:t>日课上，现场检查作业中各项操作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5519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课程微信群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Operating Systems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C360F4-2AF7-43A3-9D39-C6E348BA32A1}" type="slidenum">
              <a:rPr lang="zh-CN" altLang="en-US" smtClean="0"/>
              <a:t>33</a:t>
            </a:fld>
            <a:endParaRPr lang="zh-CN" altLang="en-US"/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97A1CCFD-21B0-C775-CC9B-5CAE57742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764" y="1253669"/>
            <a:ext cx="3656472" cy="5589780"/>
          </a:xfrm>
        </p:spPr>
      </p:pic>
    </p:spTree>
    <p:extLst>
      <p:ext uri="{BB962C8B-B14F-4D97-AF65-F5344CB8AC3E}">
        <p14:creationId xmlns:p14="http://schemas.microsoft.com/office/powerpoint/2010/main" val="2603649071"/>
      </p:ext>
    </p:extLst>
  </p:cSld>
  <p:clrMapOvr>
    <a:masterClrMapping/>
  </p:clrMapOvr>
</p:sld>
</file>

<file path=ppt/theme/theme1.xml><?xml version="1.0" encoding="utf-8"?>
<a:theme xmlns:a="http://schemas.openxmlformats.org/drawingml/2006/main" name="研讨课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研讨课模板</Template>
  <TotalTime>9204</TotalTime>
  <Words>2786</Words>
  <Application>Microsoft Office PowerPoint</Application>
  <PresentationFormat>全屏显示(4:3)</PresentationFormat>
  <Paragraphs>409</Paragraphs>
  <Slides>33</Slides>
  <Notes>32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2" baseType="lpstr">
      <vt:lpstr>Microsoft YaHei</vt:lpstr>
      <vt:lpstr>Microsoft YaHei</vt:lpstr>
      <vt:lpstr>Arial</vt:lpstr>
      <vt:lpstr>Calibri</vt:lpstr>
      <vt:lpstr>Franklin Gothic Book</vt:lpstr>
      <vt:lpstr>Franklin Gothic Medium</vt:lpstr>
      <vt:lpstr>Times New Roman</vt:lpstr>
      <vt:lpstr>Wingdings</vt:lpstr>
      <vt:lpstr>研讨课模板</vt:lpstr>
      <vt:lpstr>Project 0 课程环境和预备知识</vt:lpstr>
      <vt:lpstr>今日课程内容</vt:lpstr>
      <vt:lpstr>今日课程内容</vt:lpstr>
      <vt:lpstr>课程环境搭建</vt:lpstr>
      <vt:lpstr>虚拟机环境安装和使用</vt:lpstr>
      <vt:lpstr>虚拟机环境相关介绍</vt:lpstr>
      <vt:lpstr>Gitlab环境</vt:lpstr>
      <vt:lpstr>Gitlab仓库</vt:lpstr>
      <vt:lpstr>Git管理</vt:lpstr>
      <vt:lpstr>后续git管理</vt:lpstr>
      <vt:lpstr>P1 start-code的获取</vt:lpstr>
      <vt:lpstr>今日课程内容</vt:lpstr>
      <vt:lpstr>RISC-V汇编简介</vt:lpstr>
      <vt:lpstr>RISC-V通用寄存器</vt:lpstr>
      <vt:lpstr>RISC-V基本指令</vt:lpstr>
      <vt:lpstr>RISC-V基本指令</vt:lpstr>
      <vt:lpstr>从C语言到汇编</vt:lpstr>
      <vt:lpstr>从C语言到汇编</vt:lpstr>
      <vt:lpstr>函数调用</vt:lpstr>
      <vt:lpstr>函数调用前后的保存与恢复</vt:lpstr>
      <vt:lpstr>汇编语言其他注意点</vt:lpstr>
      <vt:lpstr>今日课程内容</vt:lpstr>
      <vt:lpstr>QEMU模拟器</vt:lpstr>
      <vt:lpstr>学习使用模拟器</vt:lpstr>
      <vt:lpstr>使用QEMU</vt:lpstr>
      <vt:lpstr>使用gdb连接QEMU</vt:lpstr>
      <vt:lpstr>gdb调试技巧</vt:lpstr>
      <vt:lpstr>Printl工具</vt:lpstr>
      <vt:lpstr>课程作业检查标准</vt:lpstr>
      <vt:lpstr>今日课程内容</vt:lpstr>
      <vt:lpstr>预备课作业</vt:lpstr>
      <vt:lpstr>预备课作业</vt:lpstr>
      <vt:lpstr>课程微信群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蒋德钧</dc:creator>
  <cp:lastModifiedBy>windows10</cp:lastModifiedBy>
  <cp:revision>766</cp:revision>
  <cp:lastPrinted>2020-09-28T07:08:52Z</cp:lastPrinted>
  <dcterms:created xsi:type="dcterms:W3CDTF">2016-08-17T03:13:01Z</dcterms:created>
  <dcterms:modified xsi:type="dcterms:W3CDTF">2025-09-24T07:13:17Z</dcterms:modified>
</cp:coreProperties>
</file>